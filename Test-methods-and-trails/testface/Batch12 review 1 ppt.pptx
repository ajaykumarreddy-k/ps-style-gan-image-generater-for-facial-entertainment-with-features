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D30384-B9DD-4930-BBAF-1A998480AFBF}" v="43" dt="2026-02-17T08:23:46.7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75" autoAdjust="0"/>
  </p:normalViewPr>
  <p:slideViewPr>
    <p:cSldViewPr>
      <p:cViewPr varScale="1">
        <p:scale>
          <a:sx n="104" d="100"/>
          <a:sy n="104" d="100"/>
        </p:scale>
        <p:origin x="182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42AD9-36DE-4DD0-AF0A-E211DB78D0B5}" type="datetimeFigureOut">
              <a:rPr lang="en-US" smtClean="0"/>
              <a:pPr/>
              <a:t>2/17/2026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916266-2922-41AE-BB9A-0E75A4DF5522}" type="slidenum">
              <a:rPr lang="en-US" smtClean="0"/>
              <a:pPr/>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D601EB-898D-45EB-AF02-BDBAAC1BCF6B}"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2CAF6E-30C6-4892-8ECC-28B98795E53E}"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30014B-F72F-459C-9AEA-83526BA1950E}"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D3470D-456E-4B74-9504-3BED3E1E331F}" type="datetime1">
              <a:rPr lang="en-US" smtClean="0"/>
              <a:pPr/>
              <a:t>2/17/2026</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F57A5D-D22F-444E-B503-748AF7911620}" type="datetime1">
              <a:rPr lang="en-US" smtClean="0"/>
              <a:pPr/>
              <a:t>2/17/2026</a:t>
            </a:fld>
            <a:endParaRPr lang="en-US"/>
          </a:p>
        </p:txBody>
      </p:sp>
      <p:sp>
        <p:nvSpPr>
          <p:cNvPr id="8" name="Footer Placeholder 7"/>
          <p:cNvSpPr>
            <a:spLocks noGrp="1"/>
          </p:cNvSpPr>
          <p:nvPr>
            <p:ph type="ftr" sz="quarter" idx="11"/>
          </p:nvPr>
        </p:nvSpPr>
        <p:spPr/>
        <p:txBody>
          <a:bodyPr/>
          <a:lstStyle/>
          <a:p>
            <a:r>
              <a:rPr lang="en-US"/>
              <a:t>DEPARTMENT OF COMPUTER SCIENCE AND ENGINEERING - INTERNET OF THINGS</a:t>
            </a:r>
          </a:p>
        </p:txBody>
      </p:sp>
      <p:sp>
        <p:nvSpPr>
          <p:cNvPr id="9" name="Slide Number Placeholder 8"/>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F4DC5B-AE6E-413C-999F-2C6DCDB27E54}" type="datetime1">
              <a:rPr lang="en-US" smtClean="0"/>
              <a:pPr/>
              <a:t>2/17/2026</a:t>
            </a:fld>
            <a:endParaRPr lang="en-US"/>
          </a:p>
        </p:txBody>
      </p:sp>
      <p:sp>
        <p:nvSpPr>
          <p:cNvPr id="4" name="Footer Placeholder 3"/>
          <p:cNvSpPr>
            <a:spLocks noGrp="1"/>
          </p:cNvSpPr>
          <p:nvPr>
            <p:ph type="ftr" sz="quarter" idx="11"/>
          </p:nvPr>
        </p:nvSpPr>
        <p:spPr/>
        <p:txBody>
          <a:bodyPr/>
          <a:lstStyle/>
          <a:p>
            <a:r>
              <a:rPr lang="en-US"/>
              <a:t>DEPARTMENT OF COMPUTER SCIENCE AND ENGINEERING - INTERNET OF THINGS</a:t>
            </a:r>
          </a:p>
        </p:txBody>
      </p:sp>
      <p:sp>
        <p:nvSpPr>
          <p:cNvPr id="5" name="Slide Number Placeholder 4"/>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7F5AD-FB09-4176-8819-3235C853B628}" type="datetime1">
              <a:rPr lang="en-US" smtClean="0"/>
              <a:pPr/>
              <a:t>2/17/2026</a:t>
            </a:fld>
            <a:endParaRPr lang="en-US"/>
          </a:p>
        </p:txBody>
      </p:sp>
      <p:sp>
        <p:nvSpPr>
          <p:cNvPr id="3" name="Footer Placeholder 2"/>
          <p:cNvSpPr>
            <a:spLocks noGrp="1"/>
          </p:cNvSpPr>
          <p:nvPr>
            <p:ph type="ftr" sz="quarter" idx="11"/>
          </p:nvPr>
        </p:nvSpPr>
        <p:spPr/>
        <p:txBody>
          <a:bodyPr/>
          <a:lstStyle/>
          <a:p>
            <a:r>
              <a:rPr lang="en-US"/>
              <a:t>DEPARTMENT OF COMPUTER SCIENCE AND ENGINEERING - INTERNET OF THINGS</a:t>
            </a:r>
          </a:p>
        </p:txBody>
      </p:sp>
      <p:sp>
        <p:nvSpPr>
          <p:cNvPr id="4" name="Slide Number Placeholder 3"/>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BFC23-F62A-4DCF-8A7C-23F35CFA6295}" type="datetime1">
              <a:rPr lang="en-US" smtClean="0"/>
              <a:pPr/>
              <a:t>2/17/2026</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C4C3F-A6B3-439C-BF6D-6DFD3A565AFB}" type="datetime1">
              <a:rPr lang="en-US" smtClean="0"/>
              <a:pPr/>
              <a:t>2/17/2026</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94F03-ECCF-40AC-9049-09ECFD328156}"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6A059-A3AC-4C78-B822-ABB2B55C89C2}"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053B32-2D0D-46EA-AEFE-E5001DBB2FF4}" type="datetime1">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 INTERNET OF THINGS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pPr/>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1007/s11633-022-1349-9" TargetMode="External"/><Relationship Id="rId2" Type="http://schemas.openxmlformats.org/officeDocument/2006/relationships/hyperlink" Target="https://doi.org/10.1051/shsconf/202213903012" TargetMode="External"/><Relationship Id="rId1" Type="http://schemas.openxmlformats.org/officeDocument/2006/relationships/slideLayout" Target="../slideLayouts/slideLayout2.xml"/><Relationship Id="rId5" Type="http://schemas.openxmlformats.org/officeDocument/2006/relationships/hyperlink" Target="https://doi.org/10.1145/3592100" TargetMode="External"/><Relationship Id="rId4" Type="http://schemas.openxmlformats.org/officeDocument/2006/relationships/hyperlink" Target="https://doi.org/10.1109/iccv51070.2023.00665"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145/3641519.3657480" TargetMode="External"/><Relationship Id="rId2" Type="http://schemas.openxmlformats.org/officeDocument/2006/relationships/hyperlink" Target="https://doi.org/10.48550/arxiv.2409.00345" TargetMode="External"/><Relationship Id="rId1" Type="http://schemas.openxmlformats.org/officeDocument/2006/relationships/slideLayout" Target="../slideLayouts/slideLayout2.xml"/><Relationship Id="rId5" Type="http://schemas.openxmlformats.org/officeDocument/2006/relationships/hyperlink" Target="https://doi.org/10.48550/arxiv.2403.07203" TargetMode="External"/><Relationship Id="rId4" Type="http://schemas.openxmlformats.org/officeDocument/2006/relationships/hyperlink" Target="https://doi.org/10.48550/arxiv.2303.1116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22214/ijraset.2022.48041" TargetMode="External"/><Relationship Id="rId2" Type="http://schemas.openxmlformats.org/officeDocument/2006/relationships/hyperlink" Target="https://doi.org/10.1007/978-3-031-47634-1_12" TargetMode="External"/><Relationship Id="rId1" Type="http://schemas.openxmlformats.org/officeDocument/2006/relationships/slideLayout" Target="../slideLayouts/slideLayout2.xml"/><Relationship Id="rId5" Type="http://schemas.openxmlformats.org/officeDocument/2006/relationships/hyperlink" Target="https://doi.org/10.1109/access.2023.3346408" TargetMode="External"/><Relationship Id="rId4" Type="http://schemas.openxmlformats.org/officeDocument/2006/relationships/hyperlink" Target="https://doi.org/10.1109/icra48506.2021.9560734"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48550/arxiv.2408.12400" TargetMode="External"/><Relationship Id="rId2" Type="http://schemas.openxmlformats.org/officeDocument/2006/relationships/hyperlink" Target="https://doi.org/10.47839/ijc.20.3.2278" TargetMode="External"/><Relationship Id="rId1" Type="http://schemas.openxmlformats.org/officeDocument/2006/relationships/slideLayout" Target="../slideLayouts/slideLayout2.xml"/><Relationship Id="rId6" Type="http://schemas.openxmlformats.org/officeDocument/2006/relationships/hyperlink" Target="https://doi.org/10.1145/3450626.3459782" TargetMode="External"/><Relationship Id="rId5" Type="http://schemas.openxmlformats.org/officeDocument/2006/relationships/hyperlink" Target="https://doi.org/10.1111/cgf.15045" TargetMode="External"/><Relationship Id="rId4" Type="http://schemas.openxmlformats.org/officeDocument/2006/relationships/hyperlink" Target="https://doi.org/10.1109/cvpr46437.2021.00229"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arxiv.org/abs/2511.04123" TargetMode="External"/><Relationship Id="rId2" Type="http://schemas.openxmlformats.org/officeDocument/2006/relationships/hyperlink" Target="https://arxiv.org/abs/2506.15312" TargetMode="External"/><Relationship Id="rId1" Type="http://schemas.openxmlformats.org/officeDocument/2006/relationships/slideLayout" Target="../slideLayouts/slideLayout2.xml"/><Relationship Id="rId5" Type="http://schemas.openxmlformats.org/officeDocument/2006/relationships/hyperlink" Target="https://doi.org/10.48550/arxiv.2506.15312" TargetMode="External"/><Relationship Id="rId4" Type="http://schemas.openxmlformats.org/officeDocument/2006/relationships/hyperlink" Target="https://arxiv.org/abs/2502.140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228600"/>
            <a:ext cx="7467600" cy="1524000"/>
          </a:xfrm>
        </p:spPr>
        <p:txBody>
          <a:bodyPr>
            <a:noAutofit/>
          </a:bodyPr>
          <a:lstStyle/>
          <a:p>
            <a:br>
              <a:rPr lang="en-US" sz="1800" b="1" dirty="0">
                <a:latin typeface="Times New Roman" panose="02020603050405020304" charset="0"/>
                <a:cs typeface="Times New Roman" panose="02020603050405020304" charset="0"/>
              </a:rPr>
            </a:br>
            <a:r>
              <a:rPr lang="en-US" sz="1800" b="1" dirty="0">
                <a:latin typeface="Times New Roman" panose="02020603050405020304" charset="0"/>
                <a:cs typeface="Times New Roman" panose="02020603050405020304" charset="0"/>
              </a:rPr>
              <a:t>SRM INSTITUTE OF SCIENCE AND TECHNOLOGY,</a:t>
            </a:r>
            <a:br>
              <a:rPr lang="en-US" sz="1800" b="1" dirty="0">
                <a:latin typeface="Times New Roman" panose="02020603050405020304" charset="0"/>
                <a:cs typeface="Times New Roman" panose="02020603050405020304" charset="0"/>
              </a:rPr>
            </a:br>
            <a:r>
              <a:rPr lang="en-US" sz="1800" b="1" dirty="0">
                <a:latin typeface="Times New Roman" panose="02020603050405020304" charset="0"/>
                <a:cs typeface="Times New Roman" panose="02020603050405020304" charset="0"/>
              </a:rPr>
              <a:t> </a:t>
            </a:r>
            <a:r>
              <a:rPr lang="en-US" sz="1800" b="1" dirty="0" err="1">
                <a:latin typeface="Times New Roman" panose="02020603050405020304" charset="0"/>
                <a:cs typeface="Times New Roman" panose="02020603050405020304" charset="0"/>
              </a:rPr>
              <a:t>Ramapuram</a:t>
            </a:r>
            <a:r>
              <a:rPr lang="en-US" sz="1800" b="1" dirty="0">
                <a:latin typeface="Times New Roman" panose="02020603050405020304" charset="0"/>
                <a:cs typeface="Times New Roman" panose="02020603050405020304" charset="0"/>
              </a:rPr>
              <a:t>, Chennai-89</a:t>
            </a:r>
            <a:br>
              <a:rPr lang="en-US" sz="1800" b="1" dirty="0">
                <a:latin typeface="Times New Roman" panose="02020603050405020304" charset="0"/>
                <a:cs typeface="Times New Roman" panose="02020603050405020304" charset="0"/>
              </a:rPr>
            </a:br>
            <a:r>
              <a:rPr lang="en-US" sz="1400" b="1" dirty="0">
                <a:latin typeface="Times New Roman" pitchFamily="18" charset="0"/>
                <a:cs typeface="Times New Roman" pitchFamily="18" charset="0"/>
              </a:rPr>
              <a:t>SCHOOL OF COMPUTER SCIENCE AND ENGINEERING</a:t>
            </a:r>
            <a:br>
              <a:rPr lang="en-US" sz="1400" b="1" dirty="0">
                <a:latin typeface="Times New Roman" pitchFamily="18" charset="0"/>
                <a:cs typeface="Times New Roman" pitchFamily="18" charset="0"/>
              </a:rPr>
            </a:br>
            <a:r>
              <a:rPr lang="en-US" sz="1400" b="1" dirty="0">
                <a:latin typeface="Times New Roman" pitchFamily="18" charset="0"/>
                <a:cs typeface="Times New Roman" pitchFamily="18" charset="0"/>
              </a:rPr>
              <a:t>DEPARTMENT OF COMPUTER SCIENCE AND ENGINEERING</a:t>
            </a:r>
            <a:br>
              <a:rPr lang="en-US" sz="1600" b="1" dirty="0">
                <a:latin typeface="Times New Roman" panose="02020603050405020304" charset="0"/>
                <a:cs typeface="Times New Roman" panose="02020603050405020304" charset="0"/>
              </a:rPr>
            </a:br>
            <a:r>
              <a:rPr lang="en-US" sz="2400" b="1" dirty="0">
                <a:latin typeface="Times New Roman" pitchFamily="18" charset="0"/>
                <a:cs typeface="Times New Roman" pitchFamily="18" charset="0"/>
              </a:rPr>
              <a:t>21CSP302L </a:t>
            </a:r>
            <a:r>
              <a:rPr lang="en-IN" sz="2400" b="1" dirty="0">
                <a:latin typeface="Times New Roman" pitchFamily="18" charset="0"/>
                <a:cs typeface="Times New Roman" pitchFamily="18" charset="0"/>
              </a:rPr>
              <a:t>- PROJECT </a:t>
            </a:r>
            <a:br>
              <a:rPr lang="en-IN" sz="1800" b="1" dirty="0">
                <a:latin typeface="Times New Roman" pitchFamily="18" charset="0"/>
                <a:cs typeface="Times New Roman" pitchFamily="18" charset="0"/>
              </a:rPr>
            </a:br>
            <a:endParaRPr lang="en-US" sz="1800" dirty="0"/>
          </a:p>
        </p:txBody>
      </p:sp>
      <p:sp>
        <p:nvSpPr>
          <p:cNvPr id="3" name="Subtitle 2"/>
          <p:cNvSpPr>
            <a:spLocks noGrp="1"/>
          </p:cNvSpPr>
          <p:nvPr>
            <p:ph type="subTitle" idx="1"/>
          </p:nvPr>
        </p:nvSpPr>
        <p:spPr>
          <a:xfrm>
            <a:off x="533400" y="1676400"/>
            <a:ext cx="8305800" cy="1981200"/>
          </a:xfrm>
        </p:spPr>
        <p:txBody>
          <a:bodyPr>
            <a:noAutofit/>
          </a:bodyPr>
          <a:lstStyle/>
          <a:p>
            <a:pPr algn="l"/>
            <a:r>
              <a:rPr lang="en-US" sz="1800" b="1" dirty="0">
                <a:solidFill>
                  <a:schemeClr val="tx1"/>
                </a:solidFill>
                <a:latin typeface="Times New Roman" pitchFamily="18" charset="0"/>
                <a:cs typeface="Times New Roman" pitchFamily="18" charset="0"/>
              </a:rPr>
              <a:t>III year /VI </a:t>
            </a:r>
            <a:r>
              <a:rPr lang="en-US" sz="1800" b="1" dirty="0" err="1">
                <a:solidFill>
                  <a:schemeClr val="tx1"/>
                </a:solidFill>
                <a:latin typeface="Times New Roman" pitchFamily="18" charset="0"/>
                <a:cs typeface="Times New Roman" pitchFamily="18" charset="0"/>
              </a:rPr>
              <a:t>Sem</a:t>
            </a:r>
            <a:r>
              <a:rPr lang="en-US" sz="1800" b="1" dirty="0">
                <a:solidFill>
                  <a:schemeClr val="tx1"/>
                </a:solidFill>
                <a:latin typeface="Times New Roman" pitchFamily="18" charset="0"/>
                <a:cs typeface="Times New Roman" pitchFamily="18" charset="0"/>
              </a:rPr>
              <a:t>	                              </a:t>
            </a:r>
            <a:r>
              <a:rPr lang="en-US" sz="2000" b="1" dirty="0">
                <a:solidFill>
                  <a:schemeClr val="tx1"/>
                </a:solidFill>
                <a:latin typeface="Times New Roman" pitchFamily="18" charset="0"/>
                <a:cs typeface="Times New Roman" pitchFamily="18" charset="0"/>
              </a:rPr>
              <a:t>First Review</a:t>
            </a:r>
            <a:endParaRPr lang="en-US" sz="1800" b="1" dirty="0">
              <a:solidFill>
                <a:schemeClr val="tx1"/>
              </a:solidFill>
              <a:latin typeface="Times New Roman" pitchFamily="18" charset="0"/>
              <a:cs typeface="Times New Roman" pitchFamily="18" charset="0"/>
            </a:endParaRPr>
          </a:p>
          <a:p>
            <a:pPr algn="l"/>
            <a:r>
              <a:rPr lang="en-US" sz="2000" b="1" dirty="0">
                <a:solidFill>
                  <a:schemeClr val="tx1"/>
                </a:solidFill>
                <a:latin typeface="Times New Roman" pitchFamily="18" charset="0"/>
                <a:cs typeface="Times New Roman" pitchFamily="18" charset="0"/>
              </a:rPr>
              <a:t>Class/Sec : CSE/A</a:t>
            </a:r>
            <a:r>
              <a:rPr lang="en-US" sz="2400" b="1" dirty="0">
                <a:solidFill>
                  <a:schemeClr val="tx1"/>
                </a:solidFill>
                <a:latin typeface="Times New Roman" pitchFamily="18" charset="0"/>
                <a:cs typeface="Times New Roman" pitchFamily="18" charset="0"/>
              </a:rPr>
              <a:t>				</a:t>
            </a:r>
          </a:p>
          <a:p>
            <a:r>
              <a:rPr lang="en-US" sz="2800" b="1" dirty="0">
                <a:solidFill>
                  <a:schemeClr val="tx1"/>
                </a:solidFill>
                <a:latin typeface="Times New Roman" panose="02020603050405020304" pitchFamily="18" charset="0"/>
                <a:cs typeface="Times New Roman" panose="02020603050405020304" pitchFamily="18" charset="0"/>
              </a:rPr>
              <a:t>PS-Style GAN based Sketch Generator for Facial Entertainment</a:t>
            </a: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p:txBody>
      </p:sp>
      <p:sp>
        <p:nvSpPr>
          <p:cNvPr id="5" name="Subtitle 2"/>
          <p:cNvSpPr txBox="1">
            <a:spLocks/>
          </p:cNvSpPr>
          <p:nvPr/>
        </p:nvSpPr>
        <p:spPr>
          <a:xfrm>
            <a:off x="381000" y="3581400"/>
            <a:ext cx="6400800" cy="533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000" dirty="0">
                <a:solidFill>
                  <a:schemeClr val="tx1"/>
                </a:solidFill>
                <a:latin typeface="Times New Roman" pitchFamily="18" charset="0"/>
                <a:cs typeface="Times New Roman" pitchFamily="18" charset="0"/>
              </a:rPr>
              <a:t>Batch No.: 12</a:t>
            </a:r>
          </a:p>
        </p:txBody>
      </p:sp>
      <p:graphicFrame>
        <p:nvGraphicFramePr>
          <p:cNvPr id="6" name="Table 5"/>
          <p:cNvGraphicFramePr>
            <a:graphicFrameLocks noGrp="1"/>
          </p:cNvGraphicFramePr>
          <p:nvPr>
            <p:extLst>
              <p:ext uri="{D42A27DB-BD31-4B8C-83A1-F6EECF244321}">
                <p14:modId xmlns:p14="http://schemas.microsoft.com/office/powerpoint/2010/main" val="2317325170"/>
              </p:ext>
            </p:extLst>
          </p:nvPr>
        </p:nvGraphicFramePr>
        <p:xfrm>
          <a:off x="304800" y="4114800"/>
          <a:ext cx="8305800" cy="2395421"/>
        </p:xfrm>
        <a:graphic>
          <a:graphicData uri="http://schemas.openxmlformats.org/drawingml/2006/table">
            <a:tbl>
              <a:tblPr firstRow="1" bandRow="1">
                <a:tableStyleId>{BDBED569-4797-4DF1-A0F4-6AAB3CD982D8}</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3741">
                <a:tc>
                  <a:txBody>
                    <a:bodyPr/>
                    <a:lstStyle/>
                    <a:p>
                      <a:r>
                        <a:rPr lang="en-US" dirty="0">
                          <a:latin typeface="Times New Roman" pitchFamily="18" charset="0"/>
                          <a:cs typeface="Times New Roman" pitchFamily="18" charset="0"/>
                        </a:rPr>
                        <a:t>Team Members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Supervisor</a:t>
                      </a:r>
                    </a:p>
                  </a:txBody>
                  <a:tcPr/>
                </a:tc>
                <a:extLst>
                  <a:ext uri="{0D108BD9-81ED-4DB2-BD59-A6C34878D82A}">
                    <a16:rowId xmlns:a16="http://schemas.microsoft.com/office/drawing/2014/main" val="10000"/>
                  </a:ext>
                </a:extLst>
              </a:tr>
              <a:tr h="1749859">
                <a:tc>
                  <a:txBody>
                    <a:bodyPr/>
                    <a:lstStyle/>
                    <a:p>
                      <a:pPr algn="just">
                        <a:lnSpc>
                          <a:spcPct val="150000"/>
                        </a:lnSpc>
                      </a:pPr>
                      <a:r>
                        <a:rPr lang="en-US" dirty="0">
                          <a:latin typeface="Times New Roman" pitchFamily="18" charset="0"/>
                          <a:cs typeface="Times New Roman" pitchFamily="18" charset="0"/>
                        </a:rPr>
                        <a:t>Sameer Raja E-RA2311003020035</a:t>
                      </a:r>
                    </a:p>
                    <a:p>
                      <a:pPr algn="just">
                        <a:lnSpc>
                          <a:spcPct val="150000"/>
                        </a:lnSpc>
                      </a:pPr>
                      <a:r>
                        <a:rPr lang="en-US" dirty="0" err="1">
                          <a:latin typeface="Times New Roman" pitchFamily="18" charset="0"/>
                          <a:cs typeface="Times New Roman" pitchFamily="18" charset="0"/>
                        </a:rPr>
                        <a:t>Thanvarshini</a:t>
                      </a:r>
                      <a:r>
                        <a:rPr lang="en-US" dirty="0">
                          <a:latin typeface="Times New Roman" pitchFamily="18" charset="0"/>
                          <a:cs typeface="Times New Roman" pitchFamily="18" charset="0"/>
                        </a:rPr>
                        <a:t> VR –RA2311003020045</a:t>
                      </a:r>
                    </a:p>
                    <a:p>
                      <a:pPr algn="just">
                        <a:lnSpc>
                          <a:spcPct val="150000"/>
                        </a:lnSpc>
                      </a:pPr>
                      <a:r>
                        <a:rPr lang="en-US" dirty="0" err="1">
                          <a:latin typeface="Times New Roman" pitchFamily="18" charset="0"/>
                          <a:cs typeface="Times New Roman" pitchFamily="18" charset="0"/>
                        </a:rPr>
                        <a:t>Jesheba</a:t>
                      </a:r>
                      <a:r>
                        <a:rPr lang="en-US" dirty="0">
                          <a:latin typeface="Times New Roman" pitchFamily="18" charset="0"/>
                          <a:cs typeface="Times New Roman" pitchFamily="18" charset="0"/>
                        </a:rPr>
                        <a:t> Fedorah E –RA2311003020047</a:t>
                      </a:r>
                    </a:p>
                    <a:p>
                      <a:pPr algn="just">
                        <a:lnSpc>
                          <a:spcPct val="150000"/>
                        </a:lnSpc>
                      </a:pPr>
                      <a:r>
                        <a:rPr lang="en-US" dirty="0">
                          <a:latin typeface="Times New Roman" pitchFamily="18" charset="0"/>
                          <a:cs typeface="Times New Roman" pitchFamily="18" charset="0"/>
                        </a:rPr>
                        <a:t>Ajay Kumar Reddy K-RA2311003020057</a:t>
                      </a:r>
                    </a:p>
                    <a:p>
                      <a:endParaRPr lang="en-US" dirty="0">
                        <a:latin typeface="Times New Roman" pitchFamily="18" charset="0"/>
                        <a:cs typeface="Times New Roman" pitchFamily="18" charset="0"/>
                      </a:endParaRPr>
                    </a:p>
                  </a:txBody>
                  <a:tcPr/>
                </a:tc>
                <a:tc>
                  <a:txBody>
                    <a:bodyPr/>
                    <a:lstStyle/>
                    <a:p>
                      <a:pPr algn="l">
                        <a:lnSpc>
                          <a:spcPts val="2304"/>
                        </a:lnSpc>
                      </a:pPr>
                      <a:r>
                        <a:rPr lang="en-US" sz="1800" dirty="0" err="1">
                          <a:solidFill>
                            <a:srgbClr val="000000"/>
                          </a:solidFill>
                          <a:latin typeface="Times New Roman MT"/>
                          <a:ea typeface="Times New Roman MT"/>
                          <a:cs typeface="Times New Roman MT"/>
                          <a:sym typeface="Times New Roman MT"/>
                        </a:rPr>
                        <a:t>Ms.S.Kamalewari</a:t>
                      </a:r>
                      <a:r>
                        <a:rPr lang="en-US" sz="1800" dirty="0">
                          <a:solidFill>
                            <a:srgbClr val="000000"/>
                          </a:solidFill>
                          <a:latin typeface="Times New Roman MT"/>
                          <a:ea typeface="Times New Roman MT"/>
                          <a:cs typeface="Times New Roman MT"/>
                          <a:sym typeface="Times New Roman MT"/>
                        </a:rPr>
                        <a:t>,</a:t>
                      </a:r>
                    </a:p>
                    <a:p>
                      <a:pPr algn="l">
                        <a:lnSpc>
                          <a:spcPts val="2304"/>
                        </a:lnSpc>
                      </a:pPr>
                      <a:r>
                        <a:rPr lang="en-US" sz="1800" dirty="0">
                          <a:solidFill>
                            <a:srgbClr val="000000"/>
                          </a:solidFill>
                          <a:latin typeface="Times New Roman MT"/>
                          <a:ea typeface="Times New Roman MT"/>
                          <a:cs typeface="Times New Roman MT"/>
                          <a:sym typeface="Times New Roman MT"/>
                        </a:rPr>
                        <a:t>Assistant Professor,</a:t>
                      </a:r>
                    </a:p>
                    <a:p>
                      <a:pPr algn="l">
                        <a:lnSpc>
                          <a:spcPts val="2304"/>
                        </a:lnSpc>
                      </a:pPr>
                      <a:r>
                        <a:rPr lang="en-US" sz="1800" dirty="0">
                          <a:solidFill>
                            <a:srgbClr val="000000"/>
                          </a:solidFill>
                          <a:latin typeface="Times New Roman MT"/>
                          <a:ea typeface="Times New Roman MT"/>
                          <a:cs typeface="Times New Roman MT"/>
                          <a:sym typeface="Times New Roman MT"/>
                        </a:rPr>
                        <a:t>SRM IST,</a:t>
                      </a:r>
                    </a:p>
                    <a:p>
                      <a:pPr algn="l">
                        <a:lnSpc>
                          <a:spcPts val="2304"/>
                        </a:lnSpc>
                      </a:pPr>
                      <a:r>
                        <a:rPr lang="en-US" sz="1800" dirty="0" err="1">
                          <a:solidFill>
                            <a:srgbClr val="000000"/>
                          </a:solidFill>
                          <a:latin typeface="Times New Roman MT"/>
                          <a:ea typeface="Times New Roman MT"/>
                          <a:cs typeface="Times New Roman MT"/>
                          <a:sym typeface="Times New Roman MT"/>
                        </a:rPr>
                        <a:t>Ramapuram</a:t>
                      </a:r>
                      <a:r>
                        <a:rPr lang="en-US" sz="1800" dirty="0">
                          <a:solidFill>
                            <a:srgbClr val="000000"/>
                          </a:solidFill>
                          <a:latin typeface="Times New Roman MT"/>
                          <a:ea typeface="Times New Roman MT"/>
                          <a:cs typeface="Times New Roman MT"/>
                          <a:sym typeface="Times New Roman MT"/>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bl>
          </a:graphicData>
        </a:graphic>
      </p:graphicFrame>
      <p:sp>
        <p:nvSpPr>
          <p:cNvPr id="7" name="Footer Placeholder 6"/>
          <p:cNvSpPr>
            <a:spLocks noGrp="1"/>
          </p:cNvSpPr>
          <p:nvPr>
            <p:ph type="ftr" sz="quarter" idx="11"/>
          </p:nvPr>
        </p:nvSpPr>
        <p:spPr>
          <a:xfrm>
            <a:off x="533400" y="6356351"/>
            <a:ext cx="8077200" cy="273049"/>
          </a:xfrm>
        </p:spPr>
        <p:txBody>
          <a:bodyPr/>
          <a:lstStyle/>
          <a:p>
            <a:r>
              <a:rPr lang="en-US" dirty="0"/>
              <a:t>Date							Slide Number</a:t>
            </a:r>
          </a:p>
          <a:p>
            <a:endParaRPr lang="en-US" dirty="0"/>
          </a:p>
        </p:txBody>
      </p:sp>
      <p:pic>
        <p:nvPicPr>
          <p:cNvPr id="8" name="image2.png"/>
          <p:cNvPicPr/>
          <p:nvPr/>
        </p:nvPicPr>
        <p:blipFill>
          <a:blip r:embed="rId2" cstate="print"/>
          <a:srcRect/>
          <a:stretch>
            <a:fillRect/>
          </a:stretch>
        </p:blipFill>
        <p:spPr>
          <a:xfrm>
            <a:off x="304800" y="304800"/>
            <a:ext cx="890905" cy="567558"/>
          </a:xfrm>
          <a:prstGeom prst="rect">
            <a:avLst/>
          </a:prstGeom>
        </p:spPr>
      </p:pic>
    </p:spTree>
    <p:extLst>
      <p:ext uri="{BB962C8B-B14F-4D97-AF65-F5344CB8AC3E}">
        <p14:creationId xmlns:p14="http://schemas.microsoft.com/office/powerpoint/2010/main" val="268442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AGENDA</a:t>
            </a:r>
          </a:p>
        </p:txBody>
      </p:sp>
      <p:sp>
        <p:nvSpPr>
          <p:cNvPr id="3" name="Content Placeholder 2"/>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itchFamily="18" charset="0"/>
                <a:cs typeface="Times New Roman" pitchFamily="18" charset="0"/>
              </a:rPr>
              <a:t>Abstract</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itchFamily="18" charset="0"/>
                <a:cs typeface="Times New Roman" pitchFamily="18" charset="0"/>
              </a:rPr>
              <a:t>Introduction</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itchFamily="18" charset="0"/>
                <a:cs typeface="Times New Roman" pitchFamily="18" charset="0"/>
              </a:rPr>
              <a:t>Objectives</a:t>
            </a:r>
          </a:p>
          <a:p>
            <a:pPr rtl="0" fontAlgn="base">
              <a:spcBef>
                <a:spcPts val="1000"/>
              </a:spcBef>
              <a:spcAft>
                <a:spcPts val="0"/>
              </a:spcAft>
              <a:buFont typeface="Arial" panose="020B0604020202020204" pitchFamily="34" charset="0"/>
              <a:buChar char="•"/>
            </a:pPr>
            <a:r>
              <a:rPr lang="en-US" sz="1800" dirty="0">
                <a:solidFill>
                  <a:srgbClr val="000000"/>
                </a:solidFill>
                <a:latin typeface="Times New Roman" pitchFamily="18" charset="0"/>
                <a:cs typeface="Times New Roman" pitchFamily="18" charset="0"/>
              </a:rPr>
              <a:t>Scope</a:t>
            </a:r>
          </a:p>
          <a:p>
            <a:pPr rtl="0" fontAlgn="base">
              <a:spcBef>
                <a:spcPts val="1000"/>
              </a:spcBef>
              <a:spcAft>
                <a:spcPts val="0"/>
              </a:spcAft>
              <a:buFont typeface="Arial" panose="020B0604020202020204" pitchFamily="34" charset="0"/>
              <a:buChar char="•"/>
            </a:pPr>
            <a:r>
              <a:rPr lang="en-US" sz="1800" dirty="0">
                <a:solidFill>
                  <a:srgbClr val="000000"/>
                </a:solidFill>
                <a:latin typeface="Times New Roman" pitchFamily="18" charset="0"/>
                <a:cs typeface="Times New Roman" pitchFamily="18" charset="0"/>
              </a:rPr>
              <a:t>Literature Review</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itchFamily="18" charset="0"/>
                <a:cs typeface="Times New Roman" pitchFamily="18" charset="0"/>
              </a:rPr>
              <a:t>Architectural Diagram</a:t>
            </a:r>
          </a:p>
          <a:p>
            <a:pPr rtl="0" fontAlgn="base">
              <a:spcBef>
                <a:spcPts val="1000"/>
              </a:spcBef>
              <a:spcAft>
                <a:spcPts val="0"/>
              </a:spcAft>
              <a:buFont typeface="Arial" panose="020B0604020202020204" pitchFamily="34" charset="0"/>
              <a:buChar char="•"/>
            </a:pPr>
            <a:r>
              <a:rPr lang="en-US" sz="1800" dirty="0">
                <a:solidFill>
                  <a:srgbClr val="000000"/>
                </a:solidFill>
                <a:latin typeface="Times New Roman" pitchFamily="18" charset="0"/>
                <a:cs typeface="Times New Roman" pitchFamily="18" charset="0"/>
              </a:rPr>
              <a:t>Flow Diagram</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itchFamily="18" charset="0"/>
                <a:cs typeface="Times New Roman" pitchFamily="18" charset="0"/>
              </a:rPr>
              <a:t>List of Modules</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itchFamily="18" charset="0"/>
                <a:cs typeface="Times New Roman" pitchFamily="18" charset="0"/>
              </a:rPr>
              <a:t>References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4235830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614FD-75FA-268C-9346-0A6365675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6456B-8173-F84B-C7C7-60DCBF46AB82}"/>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ABSTRACT</a:t>
            </a:r>
          </a:p>
        </p:txBody>
      </p:sp>
      <p:sp>
        <p:nvSpPr>
          <p:cNvPr id="3" name="Content Placeholder 2">
            <a:extLst>
              <a:ext uri="{FF2B5EF4-FFF2-40B4-BE49-F238E27FC236}">
                <a16:creationId xmlns:a16="http://schemas.microsoft.com/office/drawing/2014/main" id="{0E17B6B2-9F47-43A6-A2FA-02C7A4C06CFB}"/>
              </a:ext>
            </a:extLst>
          </p:cNvPr>
          <p:cNvSpPr>
            <a:spLocks noGrp="1"/>
          </p:cNvSpPr>
          <p:nvPr>
            <p:ph idx="1"/>
          </p:nvPr>
        </p:nvSpPr>
        <p:spPr>
          <a:xfrm>
            <a:off x="457200" y="1381062"/>
            <a:ext cx="8229600" cy="4525963"/>
          </a:xfrm>
        </p:spPr>
        <p:txBody>
          <a:bodyPr>
            <a:noAutofit/>
          </a:bodyPr>
          <a:lstStyle/>
          <a:p>
            <a:pPr marL="0" indent="0" algn="just" fontAlgn="base">
              <a:lnSpc>
                <a:spcPct val="150000"/>
              </a:lnSpc>
              <a:spcBef>
                <a:spcPts val="0"/>
              </a:spcBef>
              <a:buNone/>
            </a:pPr>
            <a:r>
              <a:rPr lang="en-US" sz="1800" dirty="0">
                <a:latin typeface="Times New Roman" pitchFamily="18" charset="0"/>
                <a:cs typeface="Times New Roman" pitchFamily="18" charset="0"/>
              </a:rPr>
              <a:t>With the rapid growth of AI-based filters, facial entertainment has seen a significant increase in user engagement through sketch generation and facial transformation tools. However, many existing filters take longer processing time and often produce images with low resemblance to the original face. To address this issue, PS Style GAN is proposed to generate high-quality facial sketches with strong identity preservation in a shorter time. Our proposed solution also uses CV2 Algorithm to produce artistic and lifelike sketches. The model focuses on extracting key facial features and uses controlled noise injection to retain originality, unlike traditional filters. Additionally, the system includes morphing and expression-changing features, allowing mixed-face generation and expression modification. This multipurpose sketch generator is suitable for applications such as social media, digital art, animation, and personalized entertainment.</a:t>
            </a:r>
          </a:p>
        </p:txBody>
      </p:sp>
      <p:sp>
        <p:nvSpPr>
          <p:cNvPr id="4" name="Footer Placeholder 3">
            <a:extLst>
              <a:ext uri="{FF2B5EF4-FFF2-40B4-BE49-F238E27FC236}">
                <a16:creationId xmlns:a16="http://schemas.microsoft.com/office/drawing/2014/main" id="{27A3BC25-EBBC-D99E-8EF2-CE280E426D90}"/>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1408206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34464-74A6-3286-807D-7807B6D40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CB42A-F2C4-6564-A466-353B6C48CCCA}"/>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INTRODUCTION</a:t>
            </a:r>
          </a:p>
        </p:txBody>
      </p:sp>
      <p:sp>
        <p:nvSpPr>
          <p:cNvPr id="3" name="Content Placeholder 2">
            <a:extLst>
              <a:ext uri="{FF2B5EF4-FFF2-40B4-BE49-F238E27FC236}">
                <a16:creationId xmlns:a16="http://schemas.microsoft.com/office/drawing/2014/main" id="{AEA1C93C-00B2-5683-1B85-F7C652DB8004}"/>
              </a:ext>
            </a:extLst>
          </p:cNvPr>
          <p:cNvSpPr>
            <a:spLocks noGrp="1"/>
          </p:cNvSpPr>
          <p:nvPr>
            <p:ph idx="1"/>
          </p:nvPr>
        </p:nvSpPr>
        <p:spPr>
          <a:xfrm>
            <a:off x="457200" y="1381062"/>
            <a:ext cx="8229600" cy="4525963"/>
          </a:xfrm>
        </p:spPr>
        <p:txBody>
          <a:bodyPr>
            <a:noAutofit/>
          </a:bodyPr>
          <a:lstStyle/>
          <a:p>
            <a:pPr marL="0" indent="0" algn="just" fontAlgn="base">
              <a:lnSpc>
                <a:spcPct val="150000"/>
              </a:lnSpc>
              <a:spcBef>
                <a:spcPts val="0"/>
              </a:spcBef>
              <a:buNone/>
            </a:pPr>
            <a:r>
              <a:rPr lang="en-US" sz="1800" dirty="0">
                <a:latin typeface="Times New Roman" pitchFamily="18" charset="0"/>
                <a:cs typeface="Times New Roman" pitchFamily="18" charset="0"/>
              </a:rPr>
              <a:t>Artificial Intelligence has transformed facial entertainment through advanced filters, sketch generators, and avatar creation tools widely used in social media platforms. Modern systems use Generative Adversarial Networks (GANs) to generate sketches by learning deep facial features, unlike traditional image processing methods. However, existing techniques often suffer from slow processing, unrealistic outputs, and loss of important identity features, and even advanced models like StyleGAN fails to preserve facial resemblance. To overcome these limitations, the proposed PS Style GAN integrated with CV2 Model focuses on effective feature extraction, identity preservation, and faster sketch generation using controlled noise injection to maintain originality while producing high-quality artistic sketches. The system uses CV2 Model to produce grids and Style GAN with 5 iterations to produce the final artistic sketch with high resemblance to the input image.</a:t>
            </a:r>
          </a:p>
        </p:txBody>
      </p:sp>
      <p:sp>
        <p:nvSpPr>
          <p:cNvPr id="4" name="Footer Placeholder 3">
            <a:extLst>
              <a:ext uri="{FF2B5EF4-FFF2-40B4-BE49-F238E27FC236}">
                <a16:creationId xmlns:a16="http://schemas.microsoft.com/office/drawing/2014/main" id="{AFAD35F2-77CB-8686-1D97-D5AEF51F1C8F}"/>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2076387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205C-E283-7ACD-43ED-8AC2D8FDD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E775B-AED2-DD00-9AB6-2927CC6958BC}"/>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PROBLEM STATEMENT</a:t>
            </a:r>
          </a:p>
        </p:txBody>
      </p:sp>
      <p:sp>
        <p:nvSpPr>
          <p:cNvPr id="3" name="Content Placeholder 2">
            <a:extLst>
              <a:ext uri="{FF2B5EF4-FFF2-40B4-BE49-F238E27FC236}">
                <a16:creationId xmlns:a16="http://schemas.microsoft.com/office/drawing/2014/main" id="{51AA013B-07FA-33B1-2C3D-986F817BEB1C}"/>
              </a:ext>
            </a:extLst>
          </p:cNvPr>
          <p:cNvSpPr>
            <a:spLocks noGrp="1"/>
          </p:cNvSpPr>
          <p:nvPr>
            <p:ph idx="1"/>
          </p:nvPr>
        </p:nvSpPr>
        <p:spPr>
          <a:xfrm>
            <a:off x="457200" y="1381062"/>
            <a:ext cx="8229600" cy="4525963"/>
          </a:xfrm>
        </p:spPr>
        <p:txBody>
          <a:bodyPr>
            <a:noAutofit/>
          </a:bodyPr>
          <a:lstStyle/>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Current AI tools often change facial features too much, making it hard to recognize the original person in the sketch.</a:t>
            </a:r>
          </a:p>
          <a:p>
            <a:pPr lvl="0" algn="just" eaLnBrk="0" fontAlgn="base" hangingPunct="0">
              <a:lnSpc>
                <a:spcPct val="15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Standard math-based filters follow rigid rules and cannot replicate the natural, artistic look of real pencil strokes.</a:t>
            </a:r>
          </a:p>
          <a:p>
            <a:pPr lvl="0" algn="just" eaLnBrk="0" fontAlgn="base" hangingPunct="0">
              <a:lnSpc>
                <a:spcPct val="15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Collecting enough hand-drawn data to teach the AI is difficult and requires too much manual effort.</a:t>
            </a:r>
          </a:p>
          <a:p>
            <a:pPr lvl="0" algn="just" eaLnBrk="0" fontAlgn="base" hangingPunct="0">
              <a:lnSpc>
                <a:spcPct val="15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Most high-quality artistic models are too slow to work instantly on mobile phones or social media apps.</a:t>
            </a:r>
          </a:p>
        </p:txBody>
      </p:sp>
      <p:sp>
        <p:nvSpPr>
          <p:cNvPr id="4" name="Footer Placeholder 3">
            <a:extLst>
              <a:ext uri="{FF2B5EF4-FFF2-40B4-BE49-F238E27FC236}">
                <a16:creationId xmlns:a16="http://schemas.microsoft.com/office/drawing/2014/main" id="{ABEFC060-67F9-C8F6-B830-66C962DEEA9D}"/>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3589314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D6632-52C9-C768-8662-827D7514B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2F449-9DBD-1033-1A1E-6591861F993F}"/>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OBJECTIVES</a:t>
            </a:r>
          </a:p>
        </p:txBody>
      </p:sp>
      <p:sp>
        <p:nvSpPr>
          <p:cNvPr id="3" name="Content Placeholder 2">
            <a:extLst>
              <a:ext uri="{FF2B5EF4-FFF2-40B4-BE49-F238E27FC236}">
                <a16:creationId xmlns:a16="http://schemas.microsoft.com/office/drawing/2014/main" id="{93BA0AA3-D49A-60B3-64BB-2E5687841753}"/>
              </a:ext>
            </a:extLst>
          </p:cNvPr>
          <p:cNvSpPr>
            <a:spLocks noGrp="1"/>
          </p:cNvSpPr>
          <p:nvPr>
            <p:ph idx="1"/>
          </p:nvPr>
        </p:nvSpPr>
        <p:spPr>
          <a:xfrm>
            <a:off x="457200" y="1381062"/>
            <a:ext cx="8229600" cy="4525963"/>
          </a:xfrm>
        </p:spPr>
        <p:txBody>
          <a:bodyPr>
            <a:noAutofit/>
          </a:bodyPr>
          <a:lstStyle/>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Enable dynamic emotion changes and smooth morphing between different faces while maintaining the texture of a professional pencil drawing.</a:t>
            </a:r>
          </a:p>
          <a:p>
            <a:pPr lvl="0" algn="just" eaLnBrk="0" fontAlgn="base" hangingPunct="0">
              <a:lnSpc>
                <a:spcPct val="15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Transform static portraits into high-resolution animated sketches that can switch between various artistic drawing styles instantly.</a:t>
            </a:r>
          </a:p>
          <a:p>
            <a:pPr lvl="0" algn="just" eaLnBrk="0" fontAlgn="base" hangingPunct="0">
              <a:lnSpc>
                <a:spcPct val="15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Deliver a production-ready system that provides high-quality artistic results and fast performance for real-world entertainment and mobile applications</a:t>
            </a:r>
          </a:p>
        </p:txBody>
      </p:sp>
      <p:sp>
        <p:nvSpPr>
          <p:cNvPr id="4" name="Footer Placeholder 3">
            <a:extLst>
              <a:ext uri="{FF2B5EF4-FFF2-40B4-BE49-F238E27FC236}">
                <a16:creationId xmlns:a16="http://schemas.microsoft.com/office/drawing/2014/main" id="{47C00CD3-CCE8-E8C4-9D9C-8A85EC5C4E2E}"/>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3690938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D8DFC-2722-191B-3112-7DD7C317D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30D3B-A594-DC6C-7780-6779D2CEB78B}"/>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SCOPE</a:t>
            </a:r>
          </a:p>
        </p:txBody>
      </p:sp>
      <p:sp>
        <p:nvSpPr>
          <p:cNvPr id="3" name="Content Placeholder 2">
            <a:extLst>
              <a:ext uri="{FF2B5EF4-FFF2-40B4-BE49-F238E27FC236}">
                <a16:creationId xmlns:a16="http://schemas.microsoft.com/office/drawing/2014/main" id="{58BCFD89-2D49-AE3A-9A40-9D7482674E33}"/>
              </a:ext>
            </a:extLst>
          </p:cNvPr>
          <p:cNvSpPr>
            <a:spLocks noGrp="1"/>
          </p:cNvSpPr>
          <p:nvPr>
            <p:ph idx="1"/>
          </p:nvPr>
        </p:nvSpPr>
        <p:spPr>
          <a:xfrm>
            <a:off x="457200" y="1381062"/>
            <a:ext cx="8229600" cy="4525963"/>
          </a:xfrm>
        </p:spPr>
        <p:txBody>
          <a:bodyPr>
            <a:noAutofit/>
          </a:bodyPr>
          <a:lstStyle/>
          <a:p>
            <a:pPr lvl="0" algn="just" eaLnBrk="0" fontAlgn="base" hangingPunct="0">
              <a:lnSpc>
                <a:spcPct val="250000"/>
              </a:lnSpc>
              <a:spcBef>
                <a:spcPct val="0"/>
              </a:spcBef>
              <a:spcAft>
                <a:spcPct val="0"/>
              </a:spcAft>
              <a:buFont typeface="Wingdings" panose="05000000000000000000" pitchFamily="2" charset="2"/>
              <a:buChar char="Ø"/>
            </a:pPr>
            <a:r>
              <a:rPr lang="en-US" altLang="en-GB" sz="1800" dirty="0">
                <a:latin typeface="Times New Roman" panose="02020603050405020304" charset="0"/>
                <a:cs typeface="Times New Roman" panose="02020603050405020304" charset="0"/>
              </a:rPr>
              <a:t>Social Media &amp; Entertainment Apps</a:t>
            </a:r>
          </a:p>
          <a:p>
            <a:pPr lvl="0" algn="just" eaLnBrk="0" fontAlgn="base" hangingPunct="0">
              <a:lnSpc>
                <a:spcPct val="250000"/>
              </a:lnSpc>
              <a:spcBef>
                <a:spcPct val="0"/>
              </a:spcBef>
              <a:spcAft>
                <a:spcPct val="0"/>
              </a:spcAft>
              <a:buFont typeface="Wingdings" panose="05000000000000000000" pitchFamily="2" charset="2"/>
              <a:buChar char="Ø"/>
            </a:pPr>
            <a:r>
              <a:rPr lang="en-US" altLang="en-GB" sz="1800" dirty="0">
                <a:latin typeface="Times New Roman" panose="02020603050405020304" charset="0"/>
                <a:cs typeface="Times New Roman" panose="02020603050405020304" charset="0"/>
              </a:rPr>
              <a:t>Games &amp; Virtual Avatars</a:t>
            </a:r>
          </a:p>
          <a:p>
            <a:pPr lvl="0" algn="just" eaLnBrk="0" fontAlgn="base" hangingPunct="0">
              <a:lnSpc>
                <a:spcPct val="250000"/>
              </a:lnSpc>
              <a:spcBef>
                <a:spcPct val="0"/>
              </a:spcBef>
              <a:spcAft>
                <a:spcPct val="0"/>
              </a:spcAft>
              <a:buFont typeface="Wingdings" panose="05000000000000000000" pitchFamily="2" charset="2"/>
              <a:buChar char="Ø"/>
            </a:pPr>
            <a:r>
              <a:rPr lang="en-US" altLang="en-GB" sz="1800" dirty="0">
                <a:latin typeface="Times New Roman" panose="02020603050405020304" charset="0"/>
                <a:cs typeface="Times New Roman" panose="02020603050405020304" charset="0"/>
              </a:rPr>
              <a:t>Film, Animation &amp; Digital Art</a:t>
            </a:r>
          </a:p>
          <a:p>
            <a:pPr lvl="0" algn="just" eaLnBrk="0" fontAlgn="base" hangingPunct="0">
              <a:lnSpc>
                <a:spcPct val="250000"/>
              </a:lnSpc>
              <a:spcBef>
                <a:spcPct val="0"/>
              </a:spcBef>
              <a:spcAft>
                <a:spcPct val="0"/>
              </a:spcAft>
              <a:buFont typeface="Wingdings" panose="05000000000000000000" pitchFamily="2" charset="2"/>
              <a:buChar char="Ø"/>
            </a:pPr>
            <a:r>
              <a:rPr lang="en-US" altLang="en-GB" sz="1800" dirty="0">
                <a:latin typeface="Times New Roman" panose="02020603050405020304" charset="0"/>
                <a:cs typeface="Times New Roman" panose="02020603050405020304" charset="0"/>
              </a:rPr>
              <a:t>Personalized Merchandise</a:t>
            </a:r>
          </a:p>
          <a:p>
            <a:pPr lvl="0" algn="just" eaLnBrk="0" fontAlgn="base" hangingPunct="0">
              <a:lnSpc>
                <a:spcPct val="250000"/>
              </a:lnSpc>
              <a:spcBef>
                <a:spcPct val="0"/>
              </a:spcBef>
              <a:spcAft>
                <a:spcPct val="0"/>
              </a:spcAft>
              <a:buFont typeface="Wingdings" panose="05000000000000000000" pitchFamily="2" charset="2"/>
              <a:buChar char="Ø"/>
            </a:pPr>
            <a:r>
              <a:rPr lang="en-US" altLang="en-GB" sz="1800" dirty="0">
                <a:latin typeface="Times New Roman" panose="02020603050405020304" charset="0"/>
                <a:cs typeface="Times New Roman" panose="02020603050405020304" charset="0"/>
              </a:rPr>
              <a:t>AR/VR &amp; Virtual Try-On Experience</a:t>
            </a:r>
          </a:p>
          <a:p>
            <a:pPr lvl="0" algn="just" eaLnBrk="0" fontAlgn="base" hangingPunct="0">
              <a:lnSpc>
                <a:spcPct val="250000"/>
              </a:lnSpc>
              <a:spcBef>
                <a:spcPct val="0"/>
              </a:spcBef>
              <a:spcAft>
                <a:spcPct val="0"/>
              </a:spcAft>
              <a:buFont typeface="Wingdings" panose="05000000000000000000" pitchFamily="2" charset="2"/>
              <a:buChar char="Ø"/>
            </a:pPr>
            <a:r>
              <a:rPr lang="en-US" altLang="en-GB" sz="1800" dirty="0">
                <a:latin typeface="Times New Roman" panose="02020603050405020304" charset="0"/>
                <a:cs typeface="Times New Roman" panose="02020603050405020304" charset="0"/>
              </a:rPr>
              <a:t>AI Creativity &amp; Style Transfer Research</a:t>
            </a:r>
          </a:p>
        </p:txBody>
      </p:sp>
      <p:sp>
        <p:nvSpPr>
          <p:cNvPr id="4" name="Footer Placeholder 3">
            <a:extLst>
              <a:ext uri="{FF2B5EF4-FFF2-40B4-BE49-F238E27FC236}">
                <a16:creationId xmlns:a16="http://schemas.microsoft.com/office/drawing/2014/main" id="{6DD9C696-DDEE-DDF2-9AFC-6776B380A5F1}"/>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704003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97145-5770-73A5-85CB-D58B6D70A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E7125-B1F0-0597-7625-C3F114DC4746}"/>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graphicFrame>
        <p:nvGraphicFramePr>
          <p:cNvPr id="7" name="Content Placeholder 6">
            <a:extLst>
              <a:ext uri="{FF2B5EF4-FFF2-40B4-BE49-F238E27FC236}">
                <a16:creationId xmlns:a16="http://schemas.microsoft.com/office/drawing/2014/main" id="{6C30760C-B0FF-39E2-36C6-A6FCD15715D1}"/>
              </a:ext>
            </a:extLst>
          </p:cNvPr>
          <p:cNvGraphicFramePr>
            <a:graphicFrameLocks noGrp="1"/>
          </p:cNvGraphicFramePr>
          <p:nvPr>
            <p:ph idx="1"/>
            <p:extLst>
              <p:ext uri="{D42A27DB-BD31-4B8C-83A1-F6EECF244321}">
                <p14:modId xmlns:p14="http://schemas.microsoft.com/office/powerpoint/2010/main" val="953552373"/>
              </p:ext>
            </p:extLst>
          </p:nvPr>
        </p:nvGraphicFramePr>
        <p:xfrm>
          <a:off x="114298" y="1264461"/>
          <a:ext cx="8915403" cy="5091889"/>
        </p:xfrm>
        <a:graphic>
          <a:graphicData uri="http://schemas.openxmlformats.org/drawingml/2006/table">
            <a:tbl>
              <a:tblPr firstRow="1" bandRow="1"/>
              <a:tblGrid>
                <a:gridCol w="1273629">
                  <a:extLst>
                    <a:ext uri="{9D8B030D-6E8A-4147-A177-3AD203B41FA5}">
                      <a16:colId xmlns:a16="http://schemas.microsoft.com/office/drawing/2014/main" val="521134696"/>
                    </a:ext>
                  </a:extLst>
                </a:gridCol>
                <a:gridCol w="1273629">
                  <a:extLst>
                    <a:ext uri="{9D8B030D-6E8A-4147-A177-3AD203B41FA5}">
                      <a16:colId xmlns:a16="http://schemas.microsoft.com/office/drawing/2014/main" val="1930298963"/>
                    </a:ext>
                  </a:extLst>
                </a:gridCol>
                <a:gridCol w="1273629">
                  <a:extLst>
                    <a:ext uri="{9D8B030D-6E8A-4147-A177-3AD203B41FA5}">
                      <a16:colId xmlns:a16="http://schemas.microsoft.com/office/drawing/2014/main" val="3935790396"/>
                    </a:ext>
                  </a:extLst>
                </a:gridCol>
                <a:gridCol w="1273629">
                  <a:extLst>
                    <a:ext uri="{9D8B030D-6E8A-4147-A177-3AD203B41FA5}">
                      <a16:colId xmlns:a16="http://schemas.microsoft.com/office/drawing/2014/main" val="1457252968"/>
                    </a:ext>
                  </a:extLst>
                </a:gridCol>
                <a:gridCol w="1273629">
                  <a:extLst>
                    <a:ext uri="{9D8B030D-6E8A-4147-A177-3AD203B41FA5}">
                      <a16:colId xmlns:a16="http://schemas.microsoft.com/office/drawing/2014/main" val="2247870333"/>
                    </a:ext>
                  </a:extLst>
                </a:gridCol>
                <a:gridCol w="1273629">
                  <a:extLst>
                    <a:ext uri="{9D8B030D-6E8A-4147-A177-3AD203B41FA5}">
                      <a16:colId xmlns:a16="http://schemas.microsoft.com/office/drawing/2014/main" val="1715084217"/>
                    </a:ext>
                  </a:extLst>
                </a:gridCol>
                <a:gridCol w="1273629">
                  <a:extLst>
                    <a:ext uri="{9D8B030D-6E8A-4147-A177-3AD203B41FA5}">
                      <a16:colId xmlns:a16="http://schemas.microsoft.com/office/drawing/2014/main" val="853352398"/>
                    </a:ext>
                  </a:extLst>
                </a:gridCol>
              </a:tblGrid>
              <a:tr h="378878">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8806865"/>
                  </a:ext>
                </a:extLst>
              </a:tr>
              <a:tr h="2428129">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 Stylized Face Sketch Extraction via Generative Prior with Limited Data</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Computer Graphics Forum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2024 &amp;</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10.48550/arXiv.2403.11263</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Facial photo–sketch datasets with very limited paired samples used alongside pretrained StyleGAN priors.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Use the generative prior of a pretrained StyleGAN to extract meaningful semantic facial features, even with very few training pairs.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LPIPS, FID, qualitative comparisons, perceptual evaluation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The method depends heavily on pretrained StyleGAN priors and struggles when sketches deviate from learned styles or contain strong emotions. In our project, we address this by integrating emotion-aware constraints and additional lightweight fine-tuning to better handle expressive and non-standard facial sketches.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3231842"/>
                  </a:ext>
                </a:extLst>
              </a:tr>
              <a:tr h="2284882">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2.  Sketch-Aware Latent Diffusion for Controllable Image Generation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ArXiv Preprint (cs.CV)</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2025 &amp;</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10.48550/arXiv.2506.15312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Paired sketch–image datasets with attribute annotations for controllable generation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Introduces a sketch-aware latent diffusion model that conditions image generation on input sketches and attribute controls without retraining diffusion backbones.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Measured using visual fidelity (e.g., FID/LPIPS), sketch–image alignment, and attribute control accuracy in generated images.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Although the model preserves sketch structure well, fine-grained emotion control remains limited and attribute interaction can be unstable. Our project improves this by explicitly separating emotion vectors from structural guidance, enabling more stable and precise emotion-driven sketch transformations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972998"/>
                  </a:ext>
                </a:extLst>
              </a:tr>
            </a:tbl>
          </a:graphicData>
        </a:graphic>
      </p:graphicFrame>
      <p:sp>
        <p:nvSpPr>
          <p:cNvPr id="4" name="Footer Placeholder 3">
            <a:extLst>
              <a:ext uri="{FF2B5EF4-FFF2-40B4-BE49-F238E27FC236}">
                <a16:creationId xmlns:a16="http://schemas.microsoft.com/office/drawing/2014/main" id="{C5E6C971-1A52-60BC-EFBB-20CBFA48C7CD}"/>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Tree>
    <p:extLst>
      <p:ext uri="{BB962C8B-B14F-4D97-AF65-F5344CB8AC3E}">
        <p14:creationId xmlns:p14="http://schemas.microsoft.com/office/powerpoint/2010/main" val="4058979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7491-9312-959E-B883-473F256F2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B2EB5-A80C-4EAC-5C92-0432F668573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AD499A0A-B5ED-1308-276D-3D55854409E4}"/>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61865EF3-586E-836B-A57E-165D642F1EB5}"/>
              </a:ext>
            </a:extLst>
          </p:cNvPr>
          <p:cNvGraphicFramePr>
            <a:graphicFrameLocks noGrp="1"/>
          </p:cNvGraphicFramePr>
          <p:nvPr>
            <p:ph idx="1"/>
            <p:extLst>
              <p:ext uri="{D42A27DB-BD31-4B8C-83A1-F6EECF244321}">
                <p14:modId xmlns:p14="http://schemas.microsoft.com/office/powerpoint/2010/main" val="2951302981"/>
              </p:ext>
            </p:extLst>
          </p:nvPr>
        </p:nvGraphicFramePr>
        <p:xfrm>
          <a:off x="152399" y="1748282"/>
          <a:ext cx="8839201" cy="4191000"/>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41757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3. Text to Sketch Generation with Multi-Styles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Accepted at NeurIPS 2025 (Neural Information Processing Systems) — available as arXiv preprint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2025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10.48550/arXiv.2511.04123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Paired text–sketch datasets with multiple artistic style labels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Uses a training-free diffusion-based framework that incorporates text and reference style sketches to guide multi-style sketch generation without retraining.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Evaluated on text–sketch alignment, style control accuracy, and qualitative sketch visual quality across multiple styles.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generated sketches sometimes lack identity consistency when styles vary significantly. We plan to solve this by incorporating identity-preserving embeddings so that stylistic variation does not distort core facial structure.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886715">
                <a:tc>
                  <a:txBody>
                    <a:bodyPr/>
                    <a:lstStyle/>
                    <a:p>
                      <a:pPr marL="0" lvl="0" indent="0">
                        <a:lnSpc>
                          <a:spcPct val="115000"/>
                        </a:lnSpc>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4. d-Sketch: Improving Visual Fidelity of Sketch-to-Image Translation with Pretrained Latent Diffusion Models without Retraining</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err="1">
                          <a:effectLst/>
                          <a:latin typeface="Aptos" panose="020B0004020202020204" pitchFamily="34" charset="0"/>
                          <a:ea typeface="Aptos" panose="020B0004020202020204" pitchFamily="34" charset="0"/>
                          <a:cs typeface="Aptos" panose="020B0004020202020204" pitchFamily="34" charset="0"/>
                        </a:rPr>
                        <a:t>arXiv</a:t>
                      </a:r>
                      <a:r>
                        <a:rPr lang="en-IN" sz="800" kern="100" dirty="0">
                          <a:effectLst/>
                          <a:latin typeface="Aptos" panose="020B0004020202020204" pitchFamily="34" charset="0"/>
                          <a:ea typeface="Aptos" panose="020B0004020202020204" pitchFamily="34" charset="0"/>
                          <a:cs typeface="Aptos" panose="020B0004020202020204" pitchFamily="34" charset="0"/>
                        </a:rPr>
                        <a:t> Preprint (cs.CV)</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2025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10.48550/arXiv.2403.0XXX</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Paired sketch–image datasets used for visual fidelity evaluation.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d-Sketch leverages a pretrained latent diffusion model and injects sketch guidance directly into the diffusion process to enhance visual fidelity, without retraining the diffusion network.</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Evaluated using visual realism metrics such as FID, LPIPS, and qualitative comparisons against GAN-based and diffusion-based sketch-to-image methods.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While visual realism is strong, the approach is less effective for emotion-rich or abstract sketches. Our project extends this by introducing emotion-guided conditioning to improve expressiveness without sacrificing realism.</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624645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0F3A-4884-FC2B-882A-11FBF5E86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ACC9C-3CA1-2D80-0E1D-2F42CF7DC83B}"/>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0F1A9739-F3E7-9F87-1E0B-9C9EC65A45E1}"/>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30DB7AE1-969A-E9EA-305D-510C707614F1}"/>
              </a:ext>
            </a:extLst>
          </p:cNvPr>
          <p:cNvGraphicFramePr>
            <a:graphicFrameLocks noGrp="1"/>
          </p:cNvGraphicFramePr>
          <p:nvPr>
            <p:ph idx="1"/>
            <p:extLst>
              <p:ext uri="{D42A27DB-BD31-4B8C-83A1-F6EECF244321}">
                <p14:modId xmlns:p14="http://schemas.microsoft.com/office/powerpoint/2010/main" val="2252048285"/>
              </p:ext>
            </p:extLst>
          </p:nvPr>
        </p:nvGraphicFramePr>
        <p:xfrm>
          <a:off x="152399" y="1748282"/>
          <a:ext cx="8839201" cy="4191000"/>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41757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5. One-shot Face Sketch Synthesis in the Wild via Generative Diffusion Prior and Instruction Tuning</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ArXiv Preprint (cs.CV)</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2025 &amp; 10.48550/arXiv.2506.15312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Sketch–image datasets containing diverse real-world sketches and photos.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Proposes a sketch-aware latent diffusion model that conditions image synthesis on sketches and optional guidance, enabling controllable image generation without retraining the diffusion backbone.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Measured using visual quality metrics like FID and LPIPS, as well as sketch–image alignment and attribute control accuracy in generated outputs.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one-shot setting limits adaptability to new facial expressions and styles. We overcome this by allowing minimal adaptive learning using emotion-specific priors to enhance flexibility in real-world scenarios.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6. Sketch-guided Image Generation with Cross-modal Latent Diffusion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ArXiv Preprint (cs.CV)</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2024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10.48550/arXiv.2410.01540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Paired sketch–image datasets, optionally combined with text or style references.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Proposes a cross-modal latent diffusion model that conditions image synthesis on input sketches and optionally other modalities like text or style references.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Evaluated using image quality/fidelity metrics (e.g., FID), sketch–image alignment, and qualitative comparisons with baseline sketch-guided methods.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Cross-modal conditioning can introduce inconsistency between sketch structure and emotion. Our project enforces structural–emotion alignment to maintain facial coherence during emotional transformations.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2787223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9756D-A01C-153A-B8A0-30066CF27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3DE29-7D94-E5E1-7019-1FBBEE53133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DB37B02C-9BBE-6825-E1D8-0D982B6953E3}"/>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98786320-4B66-2267-3465-94431F489B63}"/>
              </a:ext>
            </a:extLst>
          </p:cNvPr>
          <p:cNvGraphicFramePr>
            <a:graphicFrameLocks noGrp="1"/>
          </p:cNvGraphicFramePr>
          <p:nvPr>
            <p:ph idx="1"/>
            <p:extLst>
              <p:ext uri="{D42A27DB-BD31-4B8C-83A1-F6EECF244321}">
                <p14:modId xmlns:p14="http://schemas.microsoft.com/office/powerpoint/2010/main" val="2551700034"/>
              </p:ext>
            </p:extLst>
          </p:nvPr>
        </p:nvGraphicFramePr>
        <p:xfrm>
          <a:off x="152399" y="1748282"/>
          <a:ext cx="8839201" cy="4191000"/>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41757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7. Multi-Style Facial Sketch Synthesis through Masked Generative </a:t>
                      </a:r>
                      <a:r>
                        <a:rPr lang="en-IN" sz="800" kern="100" dirty="0" err="1">
                          <a:effectLst/>
                          <a:latin typeface="Aptos" panose="020B0004020202020204" pitchFamily="34" charset="0"/>
                          <a:ea typeface="Aptos" panose="020B0004020202020204" pitchFamily="34" charset="0"/>
                          <a:cs typeface="Aptos" panose="020B0004020202020204" pitchFamily="34" charset="0"/>
                        </a:rPr>
                        <a:t>Modeling</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ArXiv Preprint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2024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N/A</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Multi-style facial sketch datasets covering various artistic styles.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paper proposes a masked generative transformer that learns to produce multi-style sketches from face images by reconstructing masked latent image tokens, guided by extracted facial features and style embeddings.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Performance is measured using standard image synthesis metrics such as LPIPS, FID, SSIM, and other similarity measures to assess sketch quality, structural, and realism.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model focuses more on style diversity than emotional expressiveness. We enhance this by integrating emotion-aware masking so that emotional cues are preserved across all styles.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200" kern="10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107530502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8. PS-StyleGAN: Illustrative Portrait Sketching using Attention-Based Style Adaptation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Computer Graphics Forum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2024 &amp; 10.48550/arXiv.2409.00345</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Portrait photo–sketch datasets emphasizing identity preservation.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StyleGAN-based portrait sketch synthesis using attention-based style adaptation for identity-preserving illustrative sketches.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FID, LPIPS, qualitative comparisons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Although identity is preserved, emotional variation is limited. Our approach adds explicit emotion control layers to allow expressive sketch generation without losing identity.</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1851980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67FE9-FF06-983D-8FDB-10D219623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0CFAB-8460-7695-C2B7-69279ECAFBEC}"/>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E3E1F30C-161A-F90A-1238-48B1914A3239}"/>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E17CDBB6-19D9-5293-C7F1-8ABA3156FEC7}"/>
              </a:ext>
            </a:extLst>
          </p:cNvPr>
          <p:cNvGraphicFramePr>
            <a:graphicFrameLocks noGrp="1"/>
          </p:cNvGraphicFramePr>
          <p:nvPr>
            <p:ph idx="1"/>
            <p:extLst>
              <p:ext uri="{D42A27DB-BD31-4B8C-83A1-F6EECF244321}">
                <p14:modId xmlns:p14="http://schemas.microsoft.com/office/powerpoint/2010/main" val="1423440507"/>
              </p:ext>
            </p:extLst>
          </p:nvPr>
        </p:nvGraphicFramePr>
        <p:xfrm>
          <a:off x="152399" y="1748282"/>
          <a:ext cx="8839201" cy="4191000"/>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41757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9. </a:t>
                      </a:r>
                      <a:r>
                        <a:rPr lang="en-IN" sz="800" kern="100" dirty="0" err="1">
                          <a:effectLst/>
                          <a:latin typeface="Aptos" panose="020B0004020202020204" pitchFamily="34" charset="0"/>
                          <a:ea typeface="Aptos" panose="020B0004020202020204" pitchFamily="34" charset="0"/>
                          <a:cs typeface="Aptos" panose="020B0004020202020204" pitchFamily="34" charset="0"/>
                        </a:rPr>
                        <a:t>DiffFaceSketch</a:t>
                      </a:r>
                      <a:r>
                        <a:rPr lang="en-IN" sz="800" kern="100" dirty="0">
                          <a:effectLst/>
                          <a:latin typeface="Aptos" panose="020B0004020202020204" pitchFamily="34" charset="0"/>
                          <a:ea typeface="Aptos" panose="020B0004020202020204" pitchFamily="34" charset="0"/>
                          <a:cs typeface="Aptos" panose="020B0004020202020204" pitchFamily="34" charset="0"/>
                        </a:rPr>
                        <a:t>: High-Fidelity Face Image Synthesis with Sketch-Guided Latent Diffusion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IEEE Access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2024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10.1109/ACCESS.2023.3346408</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High-quality sketch–face datasets for diffusion-based synthesis.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SGLDM encodes sketches into latent features using a multi-autoencoder and applies conditional latent diffusion to generate high-quality face images while preserving geometry.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200" kern="10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model is evaluated based on image realism, sketch fidelity, and visual consistency with the input, using metrics such as FID.</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200" kern="10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model prioritizes realism over expressive abstraction. We balance realism and expression by introducing emotion-guided latent modulation.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200" kern="10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107530502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10. How to Handle Sketch-Abstraction in Sketch-Based Image Retrieval?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Computer Vision and Pattern Recognition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2024 &amp; 10.48550/arXiv.2403.07203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 abstraction datasets with varying abstraction levels.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Abstraction-aware sketch-based image retrieval framework using StyleGAN semantic embeddings and a dynamic abstraction-level feature mapper.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Acc.@q (proposed abstraction-aware loss), Top-K retrieval accuracy (Top-1/5/10), mAP early retrieval performance, and forensic sketch-photo matching accuracy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The framework is retrieval-focused and not optimized for generation. Our project adapts abstraction-aware features directly into sketch synthesis for better emotion robustness.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3473206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692C-EC93-4467-7D6B-77A6D8CF0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153D2-8310-9B09-20C0-DE73F9DCCA34}"/>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0C8C89F4-6E47-D7C6-0A14-C88F87316C3E}"/>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E802180D-0AF3-1680-C30F-F856DF18E8B6}"/>
              </a:ext>
            </a:extLst>
          </p:cNvPr>
          <p:cNvGraphicFramePr>
            <a:graphicFrameLocks noGrp="1"/>
          </p:cNvGraphicFramePr>
          <p:nvPr>
            <p:ph idx="1"/>
            <p:extLst>
              <p:ext uri="{D42A27DB-BD31-4B8C-83A1-F6EECF244321}">
                <p14:modId xmlns:p14="http://schemas.microsoft.com/office/powerpoint/2010/main" val="2476311833"/>
              </p:ext>
            </p:extLst>
          </p:nvPr>
        </p:nvGraphicFramePr>
        <p:xfrm>
          <a:off x="152399" y="1748282"/>
          <a:ext cx="8839201" cy="4372036"/>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41757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11. Toonify3D: StyleGAN-based 3D Stylized Face Generator</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SIGGRAPH Conference Papers 2024 (ACM SIGGRAPH)</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2024 &amp; 10.1145/3641519.3657480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Stylized facial datasets for cartoon and 3D face generation.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StyleNormal-based 3D lifting framework that regresses surface normal maps from StyleGAN features with normal consistency loss, enabling Toonify3D to generate 3D stylized faces with shared mesh topology.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Normal consistency loss. Surface normal accuracy and reconstruction quality.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Qualitative comparison of 3D stylized avatar generation and expression editing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approach is computationally heavy and focuses on 3D output. We simplify this by extracting 2D emotion-aware sketch representations suitable for lightweight applications.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12. </a:t>
                      </a:r>
                      <a:r>
                        <a:rPr lang="en-IN" sz="800" kern="100" dirty="0" err="1">
                          <a:effectLst/>
                          <a:latin typeface="Aptos" panose="020B0004020202020204" pitchFamily="34" charset="0"/>
                          <a:ea typeface="Aptos" panose="020B0004020202020204" pitchFamily="34" charset="0"/>
                          <a:cs typeface="Times New Roman" panose="02020603050405020304" pitchFamily="18" charset="0"/>
                        </a:rPr>
                        <a:t>SketchFaceNeRF</a:t>
                      </a:r>
                      <a:r>
                        <a:rPr lang="en-IN" sz="800" kern="100" dirty="0">
                          <a:effectLst/>
                          <a:latin typeface="Aptos" panose="020B0004020202020204" pitchFamily="34" charset="0"/>
                          <a:ea typeface="Aptos" panose="020B0004020202020204" pitchFamily="34" charset="0"/>
                          <a:cs typeface="Times New Roman" panose="02020603050405020304" pitchFamily="18" charset="0"/>
                        </a:rPr>
                        <a:t>: Sketch-based Facial Generation and Editing in Neural Radiance Field</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ACM Transactions on Graphics (TOG) – SIGGRAPH 2023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2023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10.1145/3592100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Sketch-based facial datasets with multi-view consistency.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SketchFaceNeRF synthesizes photorealistic 3D facial NeRFs from sparse sketches using a Sketch Tri-plane Prediction network, Mask Fusion for identity retention, and consistent multi-view rendering support.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Evaluation is based on identity preservation, multi-view editing consistency, and qualitative free-view rendering quality.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err="1">
                          <a:effectLst/>
                          <a:latin typeface="Aptos" panose="020B0004020202020204" pitchFamily="34" charset="0"/>
                          <a:ea typeface="Aptos" panose="020B0004020202020204" pitchFamily="34" charset="0"/>
                          <a:cs typeface="Times New Roman" panose="02020603050405020304" pitchFamily="18" charset="0"/>
                        </a:rPr>
                        <a:t>NeRF</a:t>
                      </a:r>
                      <a:r>
                        <a:rPr lang="en-IN" sz="800" kern="100" dirty="0">
                          <a:effectLst/>
                          <a:latin typeface="Aptos" panose="020B0004020202020204" pitchFamily="34" charset="0"/>
                          <a:ea typeface="Aptos" panose="020B0004020202020204" pitchFamily="34" charset="0"/>
                          <a:cs typeface="Times New Roman" panose="02020603050405020304" pitchFamily="18" charset="0"/>
                        </a:rPr>
                        <a:t>-based methods are resource-intensive and slow. Our project focuses on efficient 2D sketch generation while retaining expressive structural consistency.</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404633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06636-5B0C-C1A5-3487-3D7EFB8CD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70CAB-3140-B431-5E7B-E48E50E1745C}"/>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D00141EE-0585-9319-826C-794FA4C98093}"/>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FB770E15-8797-A63C-38E9-B3A65CF2CD9A}"/>
              </a:ext>
            </a:extLst>
          </p:cNvPr>
          <p:cNvGraphicFramePr>
            <a:graphicFrameLocks noGrp="1"/>
          </p:cNvGraphicFramePr>
          <p:nvPr>
            <p:ph idx="1"/>
            <p:extLst>
              <p:ext uri="{D42A27DB-BD31-4B8C-83A1-F6EECF244321}">
                <p14:modId xmlns:p14="http://schemas.microsoft.com/office/powerpoint/2010/main" val="1641299270"/>
              </p:ext>
            </p:extLst>
          </p:nvPr>
        </p:nvGraphicFramePr>
        <p:xfrm>
          <a:off x="152399" y="1748282"/>
          <a:ext cx="8839201" cy="4191000"/>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41757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13. Sketch to Image using GAN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International Journal of Innovative Science and Research Technology (IJISRT)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2023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N/A</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Paired sketch–image datasets for GAN training.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paper uses a GAN-based sketch-to-image translation framework with a generator–discriminator setup to produce realistic and identity-preserving images from input sketches.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method is mainly evaluated through qualitative visual results, focusing on realism, identity preservation, and improved lifelike image synthesis.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GAN instability and mode collapse reduce emotional diversity. We mitigate this by combining diffusion-inspired regularization with emotion-aware losses.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886715">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14. Human-Inspired Facial Sketch Synthesis with Dynamic Adaptation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ICCV 2023 (IEEE/CVF International Conference on Computer Vision)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2023 &amp;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10.1109/ICCV51070.2023.00665</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Facial photo–sketch datasets with expressive facial variations.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HIDA modulates neuron activations using both 3D facial geometry and 2D appearance with global style control, enhanced by coarse-scale for sharper outlines.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method is evaluated using sketch quality comparisons and multi-style synthesis performance.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Dependence on 3D geometry limits scalability. Our approach replaces explicit 3D </a:t>
                      </a:r>
                      <a:r>
                        <a:rPr lang="en-IN" sz="800" kern="100" dirty="0" err="1">
                          <a:effectLst/>
                          <a:latin typeface="Aptos" panose="020B0004020202020204" pitchFamily="34" charset="0"/>
                          <a:ea typeface="Aptos" panose="020B0004020202020204" pitchFamily="34" charset="0"/>
                          <a:cs typeface="Times New Roman" panose="02020603050405020304" pitchFamily="18" charset="0"/>
                        </a:rPr>
                        <a:t>modeling</a:t>
                      </a:r>
                      <a:r>
                        <a:rPr lang="en-IN" sz="800" kern="100" dirty="0">
                          <a:effectLst/>
                          <a:latin typeface="Aptos" panose="020B0004020202020204" pitchFamily="34" charset="0"/>
                          <a:ea typeface="Aptos" panose="020B0004020202020204" pitchFamily="34" charset="0"/>
                          <a:cs typeface="Times New Roman" panose="02020603050405020304" pitchFamily="18" charset="0"/>
                        </a:rPr>
                        <a:t> with learned emotion embeddings for faster synthesis.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574114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6C0E-C3F3-B5C1-D623-B0EFC0270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3589F-5232-E2BD-041C-96FEA6D8F9CC}"/>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F9A35D94-FB7A-E8C3-B58F-0C65B1F4BF64}"/>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C53BA398-0BD5-84C5-684E-0E1ECB5D07CA}"/>
              </a:ext>
            </a:extLst>
          </p:cNvPr>
          <p:cNvGraphicFramePr>
            <a:graphicFrameLocks noGrp="1"/>
          </p:cNvGraphicFramePr>
          <p:nvPr>
            <p:ph idx="1"/>
            <p:extLst>
              <p:ext uri="{D42A27DB-BD31-4B8C-83A1-F6EECF244321}">
                <p14:modId xmlns:p14="http://schemas.microsoft.com/office/powerpoint/2010/main" val="3817124026"/>
              </p:ext>
            </p:extLst>
          </p:nvPr>
        </p:nvGraphicFramePr>
        <p:xfrm>
          <a:off x="152399" y="1676400"/>
          <a:ext cx="8839201" cy="3989805"/>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232164">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779198">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15. Anime Sketch Colourization Using Enhanced Pix2pix GAN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Pattern Recognition: 7th Asian Conference on Pattern Recognition (ACPR 2023), Proceedings Part I</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2023 &amp; 10.1007/978-3-031-47634-1_12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Anime sketch–</a:t>
                      </a:r>
                      <a:r>
                        <a:rPr lang="en-IN" sz="800" kern="100" dirty="0" err="1">
                          <a:effectLst/>
                          <a:latin typeface="Aptos" panose="020B0004020202020204" pitchFamily="34" charset="0"/>
                          <a:ea typeface="Aptos" panose="020B0004020202020204" pitchFamily="34" charset="0"/>
                          <a:cs typeface="Times New Roman" panose="02020603050405020304" pitchFamily="18" charset="0"/>
                        </a:rPr>
                        <a:t>color</a:t>
                      </a:r>
                      <a:r>
                        <a:rPr lang="en-IN" sz="800" kern="100" dirty="0">
                          <a:effectLst/>
                          <a:latin typeface="Aptos" panose="020B0004020202020204" pitchFamily="34" charset="0"/>
                          <a:ea typeface="Aptos" panose="020B0004020202020204" pitchFamily="34" charset="0"/>
                          <a:cs typeface="Times New Roman" panose="02020603050405020304" pitchFamily="18" charset="0"/>
                        </a:rPr>
                        <a:t> image datasets.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paper proposes an enhanced pix2pix GAN-based image-to-image translation framework with a modified generator loss function to improve automatic anime manga sketch colorization.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method is evaluated using qualitative visual comparisons between the baseline pix2pix and the enhanced loss-based version, highlighting improved colour realism and sketch-to-colour performance.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Colorization is limited to predefined styles and lacks emotion adaptability. We extend this by conditioning colorization on emotional context.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978443">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16. Sketch-1-to-3: One Single Sketch to 3D Detailed Face Reconstruction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CVPR 2023 (IEEE/CVF Conference on Computer Vision and Pattern Recognition)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2023 &amp;</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10.1109/CVPR52729.2023.01344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Facial sketch datasets with 3D ground truth.</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Sketch-1-to-3 reconstructs a detailed 3D face from a single sketch by combining a parametric 3D face model with deep feature alignment and geometry refinement for high-fidelity shape recovery.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Assessed using 3D reconstruction error, identity preservation quality, and qualitative visual comparisons against state-of-the-art sketch-to-3D methods.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The method focuses on geometry reconstruction rather than expression. We reuse structural insights while emphasizing emotion-preserving 2D sketch outputs.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2111502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236DA-2E96-9B56-31D1-40A5CAEBC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3DCE2-73A4-03A7-BB00-DB2B98D98228}"/>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5871E6B8-951C-0830-E5D2-A049ADD4644F}"/>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D31CE018-B39B-C346-A8A6-6BFDF6DD18E2}"/>
              </a:ext>
            </a:extLst>
          </p:cNvPr>
          <p:cNvGraphicFramePr>
            <a:graphicFrameLocks noGrp="1"/>
          </p:cNvGraphicFramePr>
          <p:nvPr>
            <p:ph idx="1"/>
            <p:extLst>
              <p:ext uri="{D42A27DB-BD31-4B8C-83A1-F6EECF244321}">
                <p14:modId xmlns:p14="http://schemas.microsoft.com/office/powerpoint/2010/main" val="478388767"/>
              </p:ext>
            </p:extLst>
          </p:nvPr>
        </p:nvGraphicFramePr>
        <p:xfrm>
          <a:off x="152399" y="1676400"/>
          <a:ext cx="8839201" cy="3989805"/>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232164">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779198">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17. Picture that Sketch: Photorealistic Image Generation from Abstract Sketches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IEEE/CVF Conference on Computer Vision and Pattern Recognition (CVPR)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2023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10.1109/CVPR52688.2023.00669</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Abstract sketch datasets paired with real images.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approach employs a decoupled framework where an autoregressive sketch-to-latent mapper translates abstract sketches into the latent space of a pretrained StyleGAN, ensuring both structural alignment and photorealistic image synthesis.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Performance is analyzed through visual quality, photorealism, and consistency with input sketches, supported by quantitative scores such as FID and human perceptual studies.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Abstract sketches can lose emotional detail. Our project introduces emotion refinement modules to enhance expressive clarity.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200" kern="10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1075305029"/>
                  </a:ext>
                </a:extLst>
              </a:tr>
              <a:tr h="1978443">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18. Sketch to Image Synthesis using Attention Based Contextual GAN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2023 14th International Conference on Computing Communication and Networking Technologies (ICCCNT)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2023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10.1109/ICCCNT56998.2023.10306444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Contextual sketch–photo datasets.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Proposes an attention-based contextual GAN that uses contextual attention to guide realistic image generation from input sketches while preserving structural details.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Evaluated mainly through qualitative visual comparisons, focusing on realism, sketch consistency, and improved generation performance over baseline GAN approaches.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Attention improves structure but not emotional nuance. We extend attention mechanisms to explicitly capture emotion regions.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81830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DC90-872F-6101-8E38-72807DD68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10147-43BA-4FAA-C160-22301525B7E4}"/>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A829A3A6-F23A-3D84-DE3D-0964AC80244C}"/>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EE68645F-574B-617D-EAAA-92771599E6B7}"/>
              </a:ext>
            </a:extLst>
          </p:cNvPr>
          <p:cNvGraphicFramePr>
            <a:graphicFrameLocks noGrp="1"/>
          </p:cNvGraphicFramePr>
          <p:nvPr>
            <p:ph idx="1"/>
            <p:extLst>
              <p:ext uri="{D42A27DB-BD31-4B8C-83A1-F6EECF244321}">
                <p14:modId xmlns:p14="http://schemas.microsoft.com/office/powerpoint/2010/main" val="84742246"/>
              </p:ext>
            </p:extLst>
          </p:nvPr>
        </p:nvGraphicFramePr>
        <p:xfrm>
          <a:off x="152399" y="1676400"/>
          <a:ext cx="8839201" cy="3989805"/>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232164">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779198">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19. Facial-sketch Synthesis: A New Challenge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IEEE Transactions on Neural Networks and Learning Systems (TNNLS)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2022 &amp; 10.1109/TNNLS.2021.3099222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Large-scale benchmark facial sketch datasets.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Presents a new facial sketch synthesis challenge by building a comprehensive dataset and baseline framework to advance sketch generation with identity preservation and style diversity.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Evaluated using synthesis quality measures such as SSIM, PSNR, perceptual similarity, and recognition-based identity consistency.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Baseline models lack emotion-specific evaluation. Our project introduces emotion-aware benchmarks and synthesis goals.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978443">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20. Sketch to Face Image Translation and Enhancement Using a Multi-GAN Approach</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International Journal for Research in Applied Science and Engineering Technology (IJRASET)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2022 &amp; N/A</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Sketch–face datasets for sequential GAN refinement.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Proposes a multi-GAN framework that performs sketch-to-face translation and enhances the generated face images through sequential GAN-based refinement.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Evaluated mainly through qualitative visual comparisons, focusing on face realism, and improved image enhancement over baseline sketch-to-image GAN models.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Multi-GAN pipelines increase complexity and instability. We simplify this using a unified emotion-guided generation framework.</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Aptos" panose="020B0004020202020204" pitchFamily="34"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2882371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B785-AAAE-D474-C065-3FB04E735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33672-61F8-7D66-7B2B-708C385B2397}"/>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D11A394C-5B9F-0D1F-093C-85E53D1D641D}"/>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B58637FF-39F2-D8DF-F2E6-E49C73C3BEF7}"/>
              </a:ext>
            </a:extLst>
          </p:cNvPr>
          <p:cNvGraphicFramePr>
            <a:graphicFrameLocks noGrp="1"/>
          </p:cNvGraphicFramePr>
          <p:nvPr>
            <p:ph idx="1"/>
            <p:extLst>
              <p:ext uri="{D42A27DB-BD31-4B8C-83A1-F6EECF244321}">
                <p14:modId xmlns:p14="http://schemas.microsoft.com/office/powerpoint/2010/main" val="37992719"/>
              </p:ext>
            </p:extLst>
          </p:nvPr>
        </p:nvGraphicFramePr>
        <p:xfrm>
          <a:off x="152399" y="1676400"/>
          <a:ext cx="8839201" cy="4415980"/>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232164">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779198">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21. Generative Adversarial Networks: A Systematic Review and Applications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Published as a systematic review paper on ResearchGate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2022 &amp; N/A</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Multiple public datasets referenced across GAN applications.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paper systematically reviews GAN architectures, variants, training strategies, and real-world applications, highlighting key research trends and challenges.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No experiments are conducted; the review discusses common GAN evaluation metrics such as FID and qualitative sample realism.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Surveys lack task-specific solutions. We apply their insights directly to emotion-based sketch synthesis with practical implementation.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978443">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Aptos" panose="020B0004020202020204" pitchFamily="34" charset="0"/>
                        </a:rPr>
                        <a:t>22. </a:t>
                      </a:r>
                      <a:r>
                        <a:rPr lang="en-IN" sz="800" kern="100" dirty="0" err="1">
                          <a:effectLst/>
                          <a:latin typeface="Aptos" panose="020B0004020202020204" pitchFamily="34" charset="0"/>
                          <a:ea typeface="Aptos" panose="020B0004020202020204" pitchFamily="34" charset="0"/>
                          <a:cs typeface="Aptos" panose="020B0004020202020204" pitchFamily="34" charset="0"/>
                        </a:rPr>
                        <a:t>TediGAN</a:t>
                      </a:r>
                      <a:r>
                        <a:rPr lang="en-IN" sz="800" kern="100" dirty="0">
                          <a:effectLst/>
                          <a:latin typeface="Aptos" panose="020B0004020202020204" pitchFamily="34" charset="0"/>
                          <a:ea typeface="Aptos" panose="020B0004020202020204" pitchFamily="34" charset="0"/>
                          <a:cs typeface="Aptos" panose="020B0004020202020204" pitchFamily="34" charset="0"/>
                        </a:rPr>
                        <a:t>: Text-Guided Diverse Face Image Generation and Manipulation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Proceedings of the IEEE/CVF Conference on Computer Vision and Pattern Recognition (CVPR) 2021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Bef>
                          <a:spcPts val="1200"/>
                        </a:spcBef>
                        <a:spcAft>
                          <a:spcPts val="12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2021 &amp; 10.1109/CVPR46437.2021.00229</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Large-scale face image datasets paired with textual attribute descriptions for text–image alignment.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TediGAN integrates StyleGAN with a text–image alignment mechanism, mapping textual descriptions and visual features into a shared latent space to enable controllable and diverse face generation and manipulation.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Aptos" panose="020B0004020202020204" pitchFamily="34" charset="0"/>
                        </a:rPr>
                        <a:t>The model is evaluated using FID to measure image realism, LPIPS to assess diversity, and human studies to evaluate visual quality and text–image consistency.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err="1">
                          <a:effectLst/>
                          <a:latin typeface="Aptos" panose="020B0004020202020204" pitchFamily="34" charset="0"/>
                          <a:ea typeface="Aptos" panose="020B0004020202020204" pitchFamily="34" charset="0"/>
                          <a:cs typeface="Aptos" panose="020B0004020202020204" pitchFamily="34" charset="0"/>
                        </a:rPr>
                        <a:t>TediGAN</a:t>
                      </a:r>
                      <a:r>
                        <a:rPr lang="en-IN" sz="800" kern="100" dirty="0">
                          <a:effectLst/>
                          <a:latin typeface="Aptos" panose="020B0004020202020204" pitchFamily="34" charset="0"/>
                          <a:ea typeface="Aptos" panose="020B0004020202020204" pitchFamily="34" charset="0"/>
                          <a:cs typeface="Aptos" panose="020B0004020202020204" pitchFamily="34" charset="0"/>
                        </a:rPr>
                        <a:t> relies heavily on accurate text descriptions and may produce inconsistent emotional expressions when text is vague. Our project reduces this dependency by prioritizing sketch-driven emotion cues, ensuring consistent and visually grounded emotion transformation even without detailed text input.</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2386600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1AB8-786C-85C4-C7E8-DA1E71843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59A01-B305-C637-F341-CCDEF16E545F}"/>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C913FDA3-365C-4F1D-1B98-86DC05EC642E}"/>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8" name="Content Placeholder 7">
            <a:extLst>
              <a:ext uri="{FF2B5EF4-FFF2-40B4-BE49-F238E27FC236}">
                <a16:creationId xmlns:a16="http://schemas.microsoft.com/office/drawing/2014/main" id="{C105A73E-B369-E027-E1F5-56076206BFE0}"/>
              </a:ext>
            </a:extLst>
          </p:cNvPr>
          <p:cNvGraphicFramePr>
            <a:graphicFrameLocks noGrp="1"/>
          </p:cNvGraphicFramePr>
          <p:nvPr>
            <p:ph idx="1"/>
            <p:extLst>
              <p:ext uri="{D42A27DB-BD31-4B8C-83A1-F6EECF244321}">
                <p14:modId xmlns:p14="http://schemas.microsoft.com/office/powerpoint/2010/main" val="1656365731"/>
              </p:ext>
            </p:extLst>
          </p:nvPr>
        </p:nvGraphicFramePr>
        <p:xfrm>
          <a:off x="152399" y="1676400"/>
          <a:ext cx="8839201" cy="4408406"/>
        </p:xfrm>
        <a:graphic>
          <a:graphicData uri="http://schemas.openxmlformats.org/drawingml/2006/table">
            <a:tbl>
              <a:tblPr firstRow="1" bandRow="1"/>
              <a:tblGrid>
                <a:gridCol w="1262743">
                  <a:extLst>
                    <a:ext uri="{9D8B030D-6E8A-4147-A177-3AD203B41FA5}">
                      <a16:colId xmlns:a16="http://schemas.microsoft.com/office/drawing/2014/main" val="2207672360"/>
                    </a:ext>
                  </a:extLst>
                </a:gridCol>
                <a:gridCol w="1262743">
                  <a:extLst>
                    <a:ext uri="{9D8B030D-6E8A-4147-A177-3AD203B41FA5}">
                      <a16:colId xmlns:a16="http://schemas.microsoft.com/office/drawing/2014/main" val="1753228282"/>
                    </a:ext>
                  </a:extLst>
                </a:gridCol>
                <a:gridCol w="1262743">
                  <a:extLst>
                    <a:ext uri="{9D8B030D-6E8A-4147-A177-3AD203B41FA5}">
                      <a16:colId xmlns:a16="http://schemas.microsoft.com/office/drawing/2014/main" val="3517200612"/>
                    </a:ext>
                  </a:extLst>
                </a:gridCol>
                <a:gridCol w="1262743">
                  <a:extLst>
                    <a:ext uri="{9D8B030D-6E8A-4147-A177-3AD203B41FA5}">
                      <a16:colId xmlns:a16="http://schemas.microsoft.com/office/drawing/2014/main" val="3926766335"/>
                    </a:ext>
                  </a:extLst>
                </a:gridCol>
                <a:gridCol w="1262743">
                  <a:extLst>
                    <a:ext uri="{9D8B030D-6E8A-4147-A177-3AD203B41FA5}">
                      <a16:colId xmlns:a16="http://schemas.microsoft.com/office/drawing/2014/main" val="1686808080"/>
                    </a:ext>
                  </a:extLst>
                </a:gridCol>
                <a:gridCol w="1262743">
                  <a:extLst>
                    <a:ext uri="{9D8B030D-6E8A-4147-A177-3AD203B41FA5}">
                      <a16:colId xmlns:a16="http://schemas.microsoft.com/office/drawing/2014/main" val="4158579926"/>
                    </a:ext>
                  </a:extLst>
                </a:gridCol>
                <a:gridCol w="1262743">
                  <a:extLst>
                    <a:ext uri="{9D8B030D-6E8A-4147-A177-3AD203B41FA5}">
                      <a16:colId xmlns:a16="http://schemas.microsoft.com/office/drawing/2014/main" val="2303866163"/>
                    </a:ext>
                  </a:extLst>
                </a:gridCol>
              </a:tblGrid>
              <a:tr h="232164">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951589"/>
                  </a:ext>
                </a:extLst>
              </a:tr>
              <a:tr h="1779198">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23. Dreaming: Model-based Reinforcement Learning by Latent Imagination without Reconstruction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ICRA 2021 (IEEE International Conference on Robotics and Automation)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2021&amp;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10.1109/ICRA48506.2021.9560734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Simulated environment datasets consisting of pixel-based observations for latent world modeling.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Dreaming extends Dreamer by learning a latent world model without image reconstruction, using an InfoMax contrastive objective and latent imagination for policy optimization.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Evaluated using cumulative task rewards and sample efficiency across multiple simulated robotics control environments, compared with Dreamer and model-free baselines.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approach is not designed for visual sketch synthesis and lacks direct applicability to facial emotion modeling. We adapt the latent imagination concept to learn compact emotional representations, enabling efficient and expressive sketch refinement without full image reconstruction.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5305029"/>
                  </a:ext>
                </a:extLst>
              </a:tr>
              <a:tr h="1978443">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24. </a:t>
                      </a:r>
                      <a:r>
                        <a:rPr lang="en-IN" sz="800" kern="100" dirty="0" err="1">
                          <a:effectLst/>
                          <a:latin typeface="Aptos" panose="020B0004020202020204" pitchFamily="34" charset="0"/>
                          <a:ea typeface="Aptos" panose="020B0004020202020204" pitchFamily="34" charset="0"/>
                          <a:cs typeface="Times New Roman" panose="02020603050405020304" pitchFamily="18" charset="0"/>
                        </a:rPr>
                        <a:t>GANSketching</a:t>
                      </a:r>
                      <a:r>
                        <a:rPr lang="en-IN" sz="800" kern="100" dirty="0">
                          <a:effectLst/>
                          <a:latin typeface="Aptos" panose="020B0004020202020204" pitchFamily="34" charset="0"/>
                          <a:ea typeface="Aptos" panose="020B0004020202020204" pitchFamily="34" charset="0"/>
                          <a:cs typeface="Times New Roman" panose="02020603050405020304" pitchFamily="18" charset="0"/>
                        </a:rPr>
                        <a:t>: Image Generation from Sketches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ACM Transactions on Graphics (TOG) – SIGGRAPH 2021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2021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10.1145/3450626.3459782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Sketch–image datasets where sketches act as sparse structural constraints for image generation.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GANSketching enables users to create realistic generative models from a single sketch by training a GAN with strong priors and sketch-based constraints for controllable image synthesis.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Measured using image realism, perceptual quality metrics such as FID, and qualitative comparisons for sketch-guided generation diversity and fidelity.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err="1">
                          <a:effectLst/>
                          <a:latin typeface="Aptos" panose="020B0004020202020204" pitchFamily="34" charset="0"/>
                          <a:ea typeface="Aptos" panose="020B0004020202020204" pitchFamily="34" charset="0"/>
                          <a:cs typeface="Times New Roman" panose="02020603050405020304" pitchFamily="18" charset="0"/>
                        </a:rPr>
                        <a:t>GANSketching</a:t>
                      </a:r>
                      <a:r>
                        <a:rPr lang="en-IN" sz="800" kern="100" dirty="0">
                          <a:effectLst/>
                          <a:latin typeface="Aptos" panose="020B0004020202020204" pitchFamily="34" charset="0"/>
                          <a:ea typeface="Aptos" panose="020B0004020202020204" pitchFamily="34" charset="0"/>
                          <a:cs typeface="Times New Roman" panose="02020603050405020304" pitchFamily="18" charset="0"/>
                        </a:rPr>
                        <a:t> requires strong priors and struggles with highly expressive or abstract sketches. Our project addresses this by integrating emotion-aware constraints that guide generation while preserving flexibility for diverse sketch styles.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201769"/>
                  </a:ext>
                </a:extLst>
              </a:tr>
            </a:tbl>
          </a:graphicData>
        </a:graphic>
      </p:graphicFrame>
    </p:spTree>
    <p:extLst>
      <p:ext uri="{BB962C8B-B14F-4D97-AF65-F5344CB8AC3E}">
        <p14:creationId xmlns:p14="http://schemas.microsoft.com/office/powerpoint/2010/main" val="543198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ECC08-93B5-D4E1-2A85-E0E6D83FD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32B1E-CDF9-F598-EA0D-8A44F5F1C038}"/>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LITERATURE REVIEW</a:t>
            </a:r>
          </a:p>
        </p:txBody>
      </p:sp>
      <p:sp>
        <p:nvSpPr>
          <p:cNvPr id="4" name="Footer Placeholder 3">
            <a:extLst>
              <a:ext uri="{FF2B5EF4-FFF2-40B4-BE49-F238E27FC236}">
                <a16:creationId xmlns:a16="http://schemas.microsoft.com/office/drawing/2014/main" id="{35463FBB-45A7-A027-1D53-BEEEDD8516F1}"/>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graphicFrame>
        <p:nvGraphicFramePr>
          <p:cNvPr id="6" name="Content Placeholder 5">
            <a:extLst>
              <a:ext uri="{FF2B5EF4-FFF2-40B4-BE49-F238E27FC236}">
                <a16:creationId xmlns:a16="http://schemas.microsoft.com/office/drawing/2014/main" id="{C26BB63D-A248-1B2B-3FD6-2566F44A0B72}"/>
              </a:ext>
            </a:extLst>
          </p:cNvPr>
          <p:cNvGraphicFramePr>
            <a:graphicFrameLocks noGrp="1"/>
          </p:cNvGraphicFramePr>
          <p:nvPr>
            <p:ph idx="1"/>
            <p:extLst>
              <p:ext uri="{D42A27DB-BD31-4B8C-83A1-F6EECF244321}">
                <p14:modId xmlns:p14="http://schemas.microsoft.com/office/powerpoint/2010/main" val="766076362"/>
              </p:ext>
            </p:extLst>
          </p:nvPr>
        </p:nvGraphicFramePr>
        <p:xfrm>
          <a:off x="457200" y="1600200"/>
          <a:ext cx="8229599" cy="2288223"/>
        </p:xfrm>
        <a:graphic>
          <a:graphicData uri="http://schemas.openxmlformats.org/drawingml/2006/table">
            <a:tbl>
              <a:tblPr firstRow="1" bandRow="1"/>
              <a:tblGrid>
                <a:gridCol w="1175657">
                  <a:extLst>
                    <a:ext uri="{9D8B030D-6E8A-4147-A177-3AD203B41FA5}">
                      <a16:colId xmlns:a16="http://schemas.microsoft.com/office/drawing/2014/main" val="1392709469"/>
                    </a:ext>
                  </a:extLst>
                </a:gridCol>
                <a:gridCol w="1175657">
                  <a:extLst>
                    <a:ext uri="{9D8B030D-6E8A-4147-A177-3AD203B41FA5}">
                      <a16:colId xmlns:a16="http://schemas.microsoft.com/office/drawing/2014/main" val="2663311326"/>
                    </a:ext>
                  </a:extLst>
                </a:gridCol>
                <a:gridCol w="1175657">
                  <a:extLst>
                    <a:ext uri="{9D8B030D-6E8A-4147-A177-3AD203B41FA5}">
                      <a16:colId xmlns:a16="http://schemas.microsoft.com/office/drawing/2014/main" val="1702134397"/>
                    </a:ext>
                  </a:extLst>
                </a:gridCol>
                <a:gridCol w="1175657">
                  <a:extLst>
                    <a:ext uri="{9D8B030D-6E8A-4147-A177-3AD203B41FA5}">
                      <a16:colId xmlns:a16="http://schemas.microsoft.com/office/drawing/2014/main" val="3555891846"/>
                    </a:ext>
                  </a:extLst>
                </a:gridCol>
                <a:gridCol w="1175657">
                  <a:extLst>
                    <a:ext uri="{9D8B030D-6E8A-4147-A177-3AD203B41FA5}">
                      <a16:colId xmlns:a16="http://schemas.microsoft.com/office/drawing/2014/main" val="1734191337"/>
                    </a:ext>
                  </a:extLst>
                </a:gridCol>
                <a:gridCol w="1175657">
                  <a:extLst>
                    <a:ext uri="{9D8B030D-6E8A-4147-A177-3AD203B41FA5}">
                      <a16:colId xmlns:a16="http://schemas.microsoft.com/office/drawing/2014/main" val="2538222475"/>
                    </a:ext>
                  </a:extLst>
                </a:gridCol>
                <a:gridCol w="1175657">
                  <a:extLst>
                    <a:ext uri="{9D8B030D-6E8A-4147-A177-3AD203B41FA5}">
                      <a16:colId xmlns:a16="http://schemas.microsoft.com/office/drawing/2014/main" val="3437383930"/>
                    </a:ext>
                  </a:extLst>
                </a:gridCol>
              </a:tblGrid>
              <a:tr h="370840">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Title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Journal Name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Year and DOI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Methodology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a:effectLst/>
                          <a:latin typeface="Aptos" panose="020B0004020202020204" pitchFamily="34" charset="0"/>
                          <a:ea typeface="Aptos" panose="020B0004020202020204" pitchFamily="34" charset="0"/>
                          <a:cs typeface="Times New Roman" panose="02020603050405020304" pitchFamily="18" charset="0"/>
                        </a:rPr>
                        <a:t>Evaluation Metrics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b="1" kern="100" dirty="0">
                          <a:effectLst/>
                          <a:latin typeface="Aptos" panose="020B0004020202020204" pitchFamily="34" charset="0"/>
                          <a:ea typeface="Aptos" panose="020B0004020202020204" pitchFamily="34" charset="0"/>
                          <a:cs typeface="Times New Roman" panose="02020603050405020304" pitchFamily="18" charset="0"/>
                        </a:rPr>
                        <a:t>Inference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7634545"/>
                  </a:ext>
                </a:extLst>
              </a:tr>
              <a:tr h="370840">
                <a:tc>
                  <a:txBody>
                    <a:bodyPr/>
                    <a:lstStyle/>
                    <a:p>
                      <a:pPr marL="0" lvl="0" indent="0">
                        <a:lnSpc>
                          <a:spcPct val="115000"/>
                        </a:lnSpc>
                        <a:spcAft>
                          <a:spcPts val="800"/>
                        </a:spcAft>
                        <a:buSzPts val="800"/>
                        <a:buFont typeface="+mj-l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25. Generative Adversarial Neural Networks and Deep Learning: Successful Cases and Advanced Approaches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International Journal of Computing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2021 &amp;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10.4783 9/ijc.20.3.2278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Multiple benchmark datasets referenced across various GAN-based applications.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The paper reviews successful GAN and deep learning case studies and highlights advanced approaches such as algorithmic enhancements, modified data calibration, and hybrid optimization methods.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Since it is a review paper, no direct experimental metrics are reported; instead, it summarizes performance improvements and evaluation practices.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As a survey paper, it does not provide task-specific solutions for sketch-based emotion synthesis. We leverage its insights to design a focused, emotion-driven sketch generation framework with improved stability and practical applicability.</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8509310"/>
                  </a:ext>
                </a:extLst>
              </a:tr>
            </a:tbl>
          </a:graphicData>
        </a:graphic>
      </p:graphicFrame>
    </p:spTree>
    <p:extLst>
      <p:ext uri="{BB962C8B-B14F-4D97-AF65-F5344CB8AC3E}">
        <p14:creationId xmlns:p14="http://schemas.microsoft.com/office/powerpoint/2010/main" val="3871237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1E49F-9D47-6D69-9F7D-9BA20F3C8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2FA3C-82F4-84C5-5D44-84CF202CA517}"/>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ARCHITECTURE DIAGRAM</a:t>
            </a:r>
          </a:p>
        </p:txBody>
      </p:sp>
      <p:sp>
        <p:nvSpPr>
          <p:cNvPr id="4" name="Footer Placeholder 3">
            <a:extLst>
              <a:ext uri="{FF2B5EF4-FFF2-40B4-BE49-F238E27FC236}">
                <a16:creationId xmlns:a16="http://schemas.microsoft.com/office/drawing/2014/main" id="{2AEDD697-2660-1C61-A66F-7E47B087F69A}"/>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pic>
        <p:nvPicPr>
          <p:cNvPr id="8" name="Content Placeholder 7">
            <a:extLst>
              <a:ext uri="{FF2B5EF4-FFF2-40B4-BE49-F238E27FC236}">
                <a16:creationId xmlns:a16="http://schemas.microsoft.com/office/drawing/2014/main" id="{B3319E1B-978A-8298-B283-2FF037B6C57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2602026"/>
            <a:ext cx="7772400" cy="2569936"/>
          </a:xfrm>
          <a:prstGeom prst="rect">
            <a:avLst/>
          </a:prstGeom>
        </p:spPr>
      </p:pic>
    </p:spTree>
    <p:extLst>
      <p:ext uri="{BB962C8B-B14F-4D97-AF65-F5344CB8AC3E}">
        <p14:creationId xmlns:p14="http://schemas.microsoft.com/office/powerpoint/2010/main" val="3994614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B7880-7DCF-336F-A77A-7EDA09F9D1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33F7F-2DCE-5309-DCE9-D768DF24E492}"/>
              </a:ext>
            </a:extLst>
          </p:cNvPr>
          <p:cNvSpPr>
            <a:spLocks noGrp="1"/>
          </p:cNvSpPr>
          <p:nvPr>
            <p:ph type="title"/>
          </p:nvPr>
        </p:nvSpPr>
        <p:spPr>
          <a:xfrm>
            <a:off x="457200" y="-228600"/>
            <a:ext cx="8229600" cy="1143000"/>
          </a:xfrm>
        </p:spPr>
        <p:txBody>
          <a:bodyPr>
            <a:normAutofit/>
          </a:bodyPr>
          <a:lstStyle/>
          <a:p>
            <a:r>
              <a:rPr lang="en-US" dirty="0">
                <a:latin typeface="Times New Roman" pitchFamily="18" charset="0"/>
                <a:cs typeface="Times New Roman" pitchFamily="18" charset="0"/>
              </a:rPr>
              <a:t>FLOW DIAGRAM</a:t>
            </a:r>
          </a:p>
        </p:txBody>
      </p:sp>
      <p:sp>
        <p:nvSpPr>
          <p:cNvPr id="4" name="Footer Placeholder 3">
            <a:extLst>
              <a:ext uri="{FF2B5EF4-FFF2-40B4-BE49-F238E27FC236}">
                <a16:creationId xmlns:a16="http://schemas.microsoft.com/office/drawing/2014/main" id="{F9C44306-D3AC-E16D-D8B0-3951E250A6D0}"/>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pic>
        <p:nvPicPr>
          <p:cNvPr id="7" name="Content Placeholder 6">
            <a:extLst>
              <a:ext uri="{FF2B5EF4-FFF2-40B4-BE49-F238E27FC236}">
                <a16:creationId xmlns:a16="http://schemas.microsoft.com/office/drawing/2014/main" id="{7A75FF55-E62F-CC17-3087-8A3E1564BFE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00400" y="914400"/>
            <a:ext cx="3048000" cy="5441951"/>
          </a:xfrm>
          <a:prstGeom prst="rect">
            <a:avLst/>
          </a:prstGeom>
        </p:spPr>
      </p:pic>
    </p:spTree>
    <p:extLst>
      <p:ext uri="{BB962C8B-B14F-4D97-AF65-F5344CB8AC3E}">
        <p14:creationId xmlns:p14="http://schemas.microsoft.com/office/powerpoint/2010/main" val="4192062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32968-EB4E-F5AF-7EA7-5D3C76523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A6064-03C6-C439-F65D-B566B6532D68}"/>
              </a:ext>
            </a:extLst>
          </p:cNvPr>
          <p:cNvSpPr>
            <a:spLocks noGrp="1"/>
          </p:cNvSpPr>
          <p:nvPr>
            <p:ph type="title"/>
          </p:nvPr>
        </p:nvSpPr>
        <p:spPr>
          <a:xfrm>
            <a:off x="457200" y="0"/>
            <a:ext cx="8229600" cy="1143000"/>
          </a:xfrm>
        </p:spPr>
        <p:txBody>
          <a:bodyPr>
            <a:normAutofit/>
          </a:bodyPr>
          <a:lstStyle/>
          <a:p>
            <a:r>
              <a:rPr lang="en-US" dirty="0">
                <a:latin typeface="Times New Roman" pitchFamily="18" charset="0"/>
                <a:cs typeface="Times New Roman" pitchFamily="18" charset="0"/>
              </a:rPr>
              <a:t>LIST OF MODULES</a:t>
            </a:r>
          </a:p>
        </p:txBody>
      </p:sp>
      <p:sp>
        <p:nvSpPr>
          <p:cNvPr id="4" name="Footer Placeholder 3">
            <a:extLst>
              <a:ext uri="{FF2B5EF4-FFF2-40B4-BE49-F238E27FC236}">
                <a16:creationId xmlns:a16="http://schemas.microsoft.com/office/drawing/2014/main" id="{7B48CA57-7271-8089-0AEB-78EA4D258AF0}"/>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D7F753C6-A0FA-B0E7-01F9-3BDF0E931B1A}"/>
              </a:ext>
            </a:extLst>
          </p:cNvPr>
          <p:cNvSpPr>
            <a:spLocks noGrp="1"/>
          </p:cNvSpPr>
          <p:nvPr>
            <p:ph idx="1"/>
          </p:nvPr>
        </p:nvSpPr>
        <p:spPr/>
        <p:txBody>
          <a:bodyPr>
            <a:normAutofit lnSpcReduction="10000"/>
          </a:bodyPr>
          <a:lstStyle/>
          <a:p>
            <a:pPr algn="just">
              <a:buFont typeface="+mj-lt"/>
              <a:buAutoNum type="arabicPeriod"/>
            </a:pPr>
            <a:r>
              <a:rPr lang="en-US" sz="1800" b="1" dirty="0">
                <a:latin typeface="Times New Roman" panose="02020603050405020304" pitchFamily="18" charset="0"/>
                <a:cs typeface="Times New Roman" panose="02020603050405020304" pitchFamily="18" charset="0"/>
              </a:rPr>
              <a:t>User Interface (UI) Module</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The bridge between the user and the backend.</a:t>
            </a:r>
          </a:p>
          <a:p>
            <a:pPr marL="0" indent="0" algn="just">
              <a:buNone/>
            </a:pPr>
            <a:r>
              <a:rPr lang="en-US" sz="1800" b="1"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Upload Interface: </a:t>
            </a:r>
            <a:r>
              <a:rPr lang="en-US" sz="1800" dirty="0">
                <a:latin typeface="Times New Roman" panose="02020603050405020304" pitchFamily="18" charset="0"/>
                <a:cs typeface="Times New Roman" panose="02020603050405020304" pitchFamily="18" charset="0"/>
              </a:rPr>
              <a:t>Handles image ingestion (Upload Button).</a:t>
            </a:r>
          </a:p>
          <a:p>
            <a:pPr marL="0" indent="0" algn="just">
              <a:buNone/>
            </a:pPr>
            <a:r>
              <a:rPr lang="en-US" sz="1800" b="1" dirty="0">
                <a:latin typeface="Times New Roman" panose="02020603050405020304" pitchFamily="18" charset="0"/>
                <a:cs typeface="Times New Roman" panose="02020603050405020304" pitchFamily="18" charset="0"/>
              </a:rPr>
              <a:t>Preview Window: </a:t>
            </a:r>
            <a:r>
              <a:rPr lang="en-US" sz="1800" dirty="0">
                <a:latin typeface="Times New Roman" panose="02020603050405020304" pitchFamily="18" charset="0"/>
                <a:cs typeface="Times New Roman" panose="02020603050405020304" pitchFamily="18" charset="0"/>
              </a:rPr>
              <a:t>Displays the raw input and final stylized output.</a:t>
            </a:r>
          </a:p>
          <a:p>
            <a:pPr marL="0" indent="0" algn="just">
              <a:buNone/>
            </a:pPr>
            <a:r>
              <a:rPr lang="en-US" sz="1800" b="1" dirty="0">
                <a:latin typeface="Times New Roman" panose="02020603050405020304" pitchFamily="18" charset="0"/>
                <a:cs typeface="Times New Roman" panose="02020603050405020304" pitchFamily="18" charset="0"/>
              </a:rPr>
              <a:t>Control Panel: </a:t>
            </a:r>
            <a:r>
              <a:rPr lang="en-US" sz="1800" dirty="0">
                <a:latin typeface="Times New Roman" panose="02020603050405020304" pitchFamily="18" charset="0"/>
                <a:cs typeface="Times New Roman" panose="02020603050405020304" pitchFamily="18" charset="0"/>
              </a:rPr>
              <a:t>(Implicit) Buttons to trigger the generation or video export.</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2. </a:t>
            </a:r>
            <a:r>
              <a:rPr lang="en-US" sz="1800" b="1" dirty="0">
                <a:latin typeface="Times New Roman" panose="02020603050405020304" pitchFamily="18" charset="0"/>
                <a:cs typeface="Times New Roman" panose="02020603050405020304" pitchFamily="18" charset="0"/>
              </a:rPr>
              <a:t>Preprocessing Module</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Prepares the raw image data so the AI can process it without errors.</a:t>
            </a:r>
          </a:p>
          <a:p>
            <a:pPr marL="0" indent="0" algn="just">
              <a:buNone/>
            </a:pPr>
            <a:r>
              <a:rPr lang="en-US" sz="1800"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Image Resizer: </a:t>
            </a:r>
            <a:r>
              <a:rPr lang="en-US" sz="1800" dirty="0">
                <a:latin typeface="Times New Roman" panose="02020603050405020304" pitchFamily="18" charset="0"/>
                <a:cs typeface="Times New Roman" panose="02020603050405020304" pitchFamily="18" charset="0"/>
              </a:rPr>
              <a:t>Scales input to the model's native resolution (likely 256 \times 256 or 512 \times 512).</a:t>
            </a:r>
          </a:p>
          <a:p>
            <a:pPr marL="0" indent="0" algn="just">
              <a:buNone/>
            </a:pPr>
            <a:r>
              <a:rPr lang="en-US" sz="1800" b="1" dirty="0">
                <a:latin typeface="Times New Roman" panose="02020603050405020304" pitchFamily="18" charset="0"/>
                <a:cs typeface="Times New Roman" panose="02020603050405020304" pitchFamily="18" charset="0"/>
              </a:rPr>
              <a:t>Normalizer:</a:t>
            </a:r>
            <a:r>
              <a:rPr lang="en-US" sz="1800" dirty="0">
                <a:latin typeface="Times New Roman" panose="02020603050405020304" pitchFamily="18" charset="0"/>
                <a:cs typeface="Times New Roman" panose="02020603050405020304" pitchFamily="18" charset="0"/>
              </a:rPr>
              <a:t> Scales pixel values (usually between -1 and 1).</a:t>
            </a:r>
          </a:p>
          <a:p>
            <a:pPr marL="0" indent="0" algn="just">
              <a:buNone/>
            </a:pPr>
            <a:r>
              <a:rPr lang="en-US" sz="1800" b="1" dirty="0">
                <a:latin typeface="Times New Roman" panose="02020603050405020304" pitchFamily="18" charset="0"/>
                <a:cs typeface="Times New Roman" panose="02020603050405020304" pitchFamily="18" charset="0"/>
              </a:rPr>
              <a:t>Data Augmentation: </a:t>
            </a:r>
            <a:r>
              <a:rPr lang="en-US" sz="1800" dirty="0">
                <a:latin typeface="Times New Roman" panose="02020603050405020304" pitchFamily="18" charset="0"/>
                <a:cs typeface="Times New Roman" panose="02020603050405020304" pitchFamily="18" charset="0"/>
              </a:rPr>
              <a:t>Adds variety (flips, rotations) if used during training/refinement.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5981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BAD12-30F8-0F83-21A5-505E1172F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F6404-B3EA-F444-6515-A8EC739B9DE2}"/>
              </a:ext>
            </a:extLst>
          </p:cNvPr>
          <p:cNvSpPr>
            <a:spLocks noGrp="1"/>
          </p:cNvSpPr>
          <p:nvPr>
            <p:ph type="title"/>
          </p:nvPr>
        </p:nvSpPr>
        <p:spPr>
          <a:xfrm>
            <a:off x="457200" y="0"/>
            <a:ext cx="8229600" cy="1143000"/>
          </a:xfrm>
        </p:spPr>
        <p:txBody>
          <a:bodyPr>
            <a:normAutofit/>
          </a:bodyPr>
          <a:lstStyle/>
          <a:p>
            <a:r>
              <a:rPr lang="en-US" dirty="0">
                <a:latin typeface="Times New Roman" pitchFamily="18" charset="0"/>
                <a:cs typeface="Times New Roman" pitchFamily="18" charset="0"/>
              </a:rPr>
              <a:t>LIST OF MODULES</a:t>
            </a:r>
          </a:p>
        </p:txBody>
      </p:sp>
      <p:sp>
        <p:nvSpPr>
          <p:cNvPr id="4" name="Footer Placeholder 3">
            <a:extLst>
              <a:ext uri="{FF2B5EF4-FFF2-40B4-BE49-F238E27FC236}">
                <a16:creationId xmlns:a16="http://schemas.microsoft.com/office/drawing/2014/main" id="{7587DDDC-1C70-8BB4-65E8-D83459A8AFA7}"/>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BD94B81D-B440-E8FD-83D7-A2841051A395}"/>
              </a:ext>
            </a:extLst>
          </p:cNvPr>
          <p:cNvSpPr>
            <a:spLocks noGrp="1"/>
          </p:cNvSpPr>
          <p:nvPr>
            <p:ph idx="1"/>
          </p:nvPr>
        </p:nvSpPr>
        <p:spPr/>
        <p:txBody>
          <a:bodyPr>
            <a:normAutofit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3. Feature Extraction Module</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captures the "identity" of the person so the generated image looks like them, not a random person.</a:t>
            </a:r>
          </a:p>
          <a:p>
            <a:pPr marL="0" indent="0" algn="just">
              <a:buNone/>
            </a:pPr>
            <a:r>
              <a:rPr lang="en-US" sz="1800" b="1"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Encoder: </a:t>
            </a:r>
            <a:r>
              <a:rPr lang="en-US" sz="1800" dirty="0">
                <a:latin typeface="Times New Roman" panose="02020603050405020304" pitchFamily="18" charset="0"/>
                <a:cs typeface="Times New Roman" panose="02020603050405020304" pitchFamily="18" charset="0"/>
              </a:rPr>
              <a:t>Converts the image into a numerical code.</a:t>
            </a:r>
          </a:p>
          <a:p>
            <a:pPr marL="0" indent="0" algn="just">
              <a:buNone/>
            </a:pPr>
            <a:r>
              <a:rPr lang="en-US" sz="1800" b="1" dirty="0">
                <a:latin typeface="Times New Roman" panose="02020603050405020304" pitchFamily="18" charset="0"/>
                <a:cs typeface="Times New Roman" panose="02020603050405020304" pitchFamily="18" charset="0"/>
              </a:rPr>
              <a:t>Facial Embeddings: </a:t>
            </a:r>
            <a:r>
              <a:rPr lang="en-US" sz="1800" dirty="0">
                <a:latin typeface="Times New Roman" panose="02020603050405020304" pitchFamily="18" charset="0"/>
                <a:cs typeface="Times New Roman" panose="02020603050405020304" pitchFamily="18" charset="0"/>
              </a:rPr>
              <a:t>The specific vector representation of facial features (eyes, nose, jawline) used for "Style Modulation.“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4. Structural Guidance Module (CV2 Path)</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Creates the structural "skeleton" for the GAN to paint over. This is unique to your architecture.</a:t>
            </a:r>
          </a:p>
          <a:p>
            <a:pPr marL="0" indent="0" algn="just">
              <a:buNone/>
            </a:pPr>
            <a:r>
              <a:rPr lang="en-US" sz="1800" b="1" dirty="0">
                <a:latin typeface="Times New Roman" panose="02020603050405020304" pitchFamily="18" charset="0"/>
                <a:cs typeface="Times New Roman" panose="02020603050405020304" pitchFamily="18" charset="0"/>
              </a:rPr>
              <a:t>Components</a:t>
            </a:r>
            <a:r>
              <a:rPr lang="en-US" sz="1800" dirty="0">
                <a:latin typeface="Times New Roman" panose="02020603050405020304" pitchFamily="18" charset="0"/>
                <a:cs typeface="Times New Roman" panose="02020603050405020304" pitchFamily="18" charset="0"/>
              </a:rPr>
              <a:t>:</a:t>
            </a:r>
          </a:p>
          <a:p>
            <a:pPr marL="0" indent="0" algn="just">
              <a:buNone/>
            </a:pPr>
            <a:r>
              <a:rPr lang="en-US" sz="1800" b="1" dirty="0">
                <a:latin typeface="Times New Roman" panose="02020603050405020304" pitchFamily="18" charset="0"/>
                <a:cs typeface="Times New Roman" panose="02020603050405020304" pitchFamily="18" charset="0"/>
              </a:rPr>
              <a:t>CV2 Path Model: </a:t>
            </a:r>
            <a:r>
              <a:rPr lang="en-US" sz="1800" dirty="0">
                <a:latin typeface="Times New Roman" panose="02020603050405020304" pitchFamily="18" charset="0"/>
                <a:cs typeface="Times New Roman" panose="02020603050405020304" pitchFamily="18" charset="0"/>
              </a:rPr>
              <a:t>Uses OpenCV to detect edges and structure.</a:t>
            </a:r>
          </a:p>
          <a:p>
            <a:pPr marL="0" indent="0" algn="just">
              <a:buNone/>
            </a:pPr>
            <a:r>
              <a:rPr lang="en-US" sz="1800" b="1" dirty="0">
                <a:latin typeface="Times New Roman" panose="02020603050405020304" pitchFamily="18" charset="0"/>
                <a:cs typeface="Times New Roman" panose="02020603050405020304" pitchFamily="18" charset="0"/>
              </a:rPr>
              <a:t>Grid Generator: </a:t>
            </a:r>
            <a:r>
              <a:rPr lang="en-US" sz="1800" dirty="0">
                <a:latin typeface="Times New Roman" panose="02020603050405020304" pitchFamily="18" charset="0"/>
                <a:cs typeface="Times New Roman" panose="02020603050405020304" pitchFamily="18" charset="0"/>
              </a:rPr>
              <a:t>produces the "Initial Sketch" (low quality) to guide the AI's geometry.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053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FC20C-ABDE-BF50-7785-89C5A9FA0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C9D0F-BEEE-CEF4-6F39-3E72F43E1320}"/>
              </a:ext>
            </a:extLst>
          </p:cNvPr>
          <p:cNvSpPr>
            <a:spLocks noGrp="1"/>
          </p:cNvSpPr>
          <p:nvPr>
            <p:ph type="title"/>
          </p:nvPr>
        </p:nvSpPr>
        <p:spPr>
          <a:xfrm>
            <a:off x="457200" y="0"/>
            <a:ext cx="8229600" cy="1143000"/>
          </a:xfrm>
        </p:spPr>
        <p:txBody>
          <a:bodyPr>
            <a:normAutofit/>
          </a:bodyPr>
          <a:lstStyle/>
          <a:p>
            <a:r>
              <a:rPr lang="en-US" dirty="0">
                <a:latin typeface="Times New Roman" pitchFamily="18" charset="0"/>
                <a:cs typeface="Times New Roman" pitchFamily="18" charset="0"/>
              </a:rPr>
              <a:t>LIST OF MODULES</a:t>
            </a:r>
          </a:p>
        </p:txBody>
      </p:sp>
      <p:sp>
        <p:nvSpPr>
          <p:cNvPr id="4" name="Footer Placeholder 3">
            <a:extLst>
              <a:ext uri="{FF2B5EF4-FFF2-40B4-BE49-F238E27FC236}">
                <a16:creationId xmlns:a16="http://schemas.microsoft.com/office/drawing/2014/main" id="{57DC81A4-B18C-D1CD-CD62-D712F32957EA}"/>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7CAEA4FE-6091-0767-37E8-A897DF84073C}"/>
              </a:ext>
            </a:extLst>
          </p:cNvPr>
          <p:cNvSpPr>
            <a:spLocks noGrp="1"/>
          </p:cNvSpPr>
          <p:nvPr>
            <p:ph idx="1"/>
          </p:nvPr>
        </p:nvSpPr>
        <p:spPr>
          <a:xfrm>
            <a:off x="457200" y="1219200"/>
            <a:ext cx="8247888" cy="5715000"/>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5. Core Generative Module (PS-Style-GAN)</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The "brain" that generates the artistic/stylized visuals.</a:t>
            </a:r>
          </a:p>
          <a:p>
            <a:pPr marL="0" indent="0" algn="just">
              <a:buNone/>
            </a:pPr>
            <a:r>
              <a:rPr lang="en-US" sz="1800" b="1"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Style Latent Vector: </a:t>
            </a:r>
            <a:r>
              <a:rPr lang="en-US" sz="1800" dirty="0">
                <a:latin typeface="Times New Roman" panose="02020603050405020304" pitchFamily="18" charset="0"/>
                <a:cs typeface="Times New Roman" panose="02020603050405020304" pitchFamily="18" charset="0"/>
              </a:rPr>
              <a:t>The noise + embedding input that determines the style.</a:t>
            </a:r>
          </a:p>
          <a:p>
            <a:pPr marL="0" indent="0" algn="just">
              <a:buNone/>
            </a:pPr>
            <a:r>
              <a:rPr lang="en-US" sz="1800" b="1" dirty="0">
                <a:latin typeface="Times New Roman" panose="02020603050405020304" pitchFamily="18" charset="0"/>
                <a:cs typeface="Times New Roman" panose="02020603050405020304" pitchFamily="18" charset="0"/>
              </a:rPr>
              <a:t>Generator: </a:t>
            </a:r>
            <a:r>
              <a:rPr lang="en-US" sz="1800" dirty="0">
                <a:latin typeface="Times New Roman" panose="02020603050405020304" pitchFamily="18" charset="0"/>
                <a:cs typeface="Times New Roman" panose="02020603050405020304" pitchFamily="18" charset="0"/>
              </a:rPr>
              <a:t>The neural network that creates the image from the vector.</a:t>
            </a:r>
          </a:p>
          <a:p>
            <a:pPr marL="0" indent="0" algn="just">
              <a:buNone/>
            </a:pPr>
            <a:r>
              <a:rPr lang="en-US" sz="1800" b="1" dirty="0">
                <a:latin typeface="Times New Roman" panose="02020603050405020304" pitchFamily="18" charset="0"/>
                <a:cs typeface="Times New Roman" panose="02020603050405020304" pitchFamily="18" charset="0"/>
              </a:rPr>
              <a:t>Discriminator: </a:t>
            </a:r>
            <a:r>
              <a:rPr lang="en-US" sz="1800" dirty="0">
                <a:latin typeface="Times New Roman" panose="02020603050405020304" pitchFamily="18" charset="0"/>
                <a:cs typeface="Times New Roman" panose="02020603050405020304" pitchFamily="18" charset="0"/>
              </a:rPr>
              <a:t>The critic that judges if the image is "real/good" enough </a:t>
            </a:r>
            <a:r>
              <a:rPr lang="en-US" sz="1800" b="1" dirty="0">
                <a:latin typeface="Times New Roman" panose="02020603050405020304" pitchFamily="18" charset="0"/>
                <a:cs typeface="Times New Roman" panose="02020603050405020304" pitchFamily="18" charset="0"/>
              </a:rPr>
              <a:t>Adversarial Feedback: </a:t>
            </a:r>
            <a:r>
              <a:rPr lang="en-US" sz="1800" dirty="0">
                <a:latin typeface="Times New Roman" panose="02020603050405020304" pitchFamily="18" charset="0"/>
                <a:cs typeface="Times New Roman" panose="02020603050405020304" pitchFamily="18" charset="0"/>
              </a:rPr>
              <a:t>The loop that improves quality.</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6. Video &amp; Animation Module</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Creates the "entertainment" aspect by visualizing the generation process.</a:t>
            </a:r>
          </a:p>
          <a:p>
            <a:pPr marL="0" indent="0" algn="just">
              <a:buNone/>
            </a:pPr>
            <a:r>
              <a:rPr lang="en-US" sz="1800" b="1"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Iteration Capture: </a:t>
            </a:r>
            <a:r>
              <a:rPr lang="en-US" sz="1800" dirty="0">
                <a:latin typeface="Times New Roman" panose="02020603050405020304" pitchFamily="18" charset="0"/>
                <a:cs typeface="Times New Roman" panose="02020603050405020304" pitchFamily="18" charset="0"/>
              </a:rPr>
              <a:t>Captures the output at specific steps (GAN Iteration 1 \to 2 \to 3 \to 4 \to 5).</a:t>
            </a:r>
          </a:p>
          <a:p>
            <a:pPr marL="0" indent="0" algn="just">
              <a:buNone/>
            </a:pPr>
            <a:r>
              <a:rPr lang="en-US" sz="1800" b="1" dirty="0">
                <a:latin typeface="Times New Roman" panose="02020603050405020304" pitchFamily="18" charset="0"/>
                <a:cs typeface="Times New Roman" panose="02020603050405020304" pitchFamily="18" charset="0"/>
              </a:rPr>
              <a:t>Frame Stitcher: </a:t>
            </a:r>
            <a:r>
              <a:rPr lang="en-US" sz="1800" dirty="0">
                <a:latin typeface="Times New Roman" panose="02020603050405020304" pitchFamily="18" charset="0"/>
                <a:cs typeface="Times New Roman" panose="02020603050405020304" pitchFamily="18" charset="0"/>
              </a:rPr>
              <a:t>Compiles these iterations into a smooth video/GIF showing the drawing process.</a:t>
            </a:r>
          </a:p>
          <a:p>
            <a:pPr marL="0" indent="0" algn="just">
              <a:buNone/>
            </a:pPr>
            <a:r>
              <a:rPr lang="en-US" sz="1800" b="1" dirty="0">
                <a:latin typeface="Times New Roman" panose="02020603050405020304" pitchFamily="18" charset="0"/>
                <a:cs typeface="Times New Roman" panose="02020603050405020304" pitchFamily="18" charset="0"/>
              </a:rPr>
              <a:t>Interpolation Engine: </a:t>
            </a:r>
            <a:r>
              <a:rPr lang="en-US" sz="1800" dirty="0">
                <a:latin typeface="Times New Roman" panose="02020603050405020304" pitchFamily="18" charset="0"/>
                <a:cs typeface="Times New Roman" panose="02020603050405020304" pitchFamily="18" charset="0"/>
              </a:rPr>
              <a:t>Morphs between the "User Image" and "Stylized Image."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3271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1B6FA-18B7-B9F9-2925-3BF7B5D48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5CB89-A01D-D6D6-AE33-C54103DA902E}"/>
              </a:ext>
            </a:extLst>
          </p:cNvPr>
          <p:cNvSpPr>
            <a:spLocks noGrp="1"/>
          </p:cNvSpPr>
          <p:nvPr>
            <p:ph type="title"/>
          </p:nvPr>
        </p:nvSpPr>
        <p:spPr>
          <a:xfrm>
            <a:off x="457200" y="0"/>
            <a:ext cx="8229600" cy="1143000"/>
          </a:xfrm>
        </p:spPr>
        <p:txBody>
          <a:bodyPr>
            <a:normAutofit/>
          </a:bodyPr>
          <a:lstStyle/>
          <a:p>
            <a:r>
              <a:rPr lang="en-US" dirty="0">
                <a:latin typeface="Times New Roman" pitchFamily="18" charset="0"/>
                <a:cs typeface="Times New Roman" pitchFamily="18" charset="0"/>
              </a:rPr>
              <a:t>LIST OF MODULES</a:t>
            </a:r>
          </a:p>
        </p:txBody>
      </p:sp>
      <p:sp>
        <p:nvSpPr>
          <p:cNvPr id="4" name="Footer Placeholder 3">
            <a:extLst>
              <a:ext uri="{FF2B5EF4-FFF2-40B4-BE49-F238E27FC236}">
                <a16:creationId xmlns:a16="http://schemas.microsoft.com/office/drawing/2014/main" id="{366A9F6D-2F9E-6035-7998-59F453D37924}"/>
              </a:ext>
            </a:extLst>
          </p:cNvPr>
          <p:cNvSpPr>
            <a:spLocks noGrp="1"/>
          </p:cNvSpPr>
          <p:nvPr>
            <p:ph type="ftr" sz="quarter" idx="11"/>
          </p:nvPr>
        </p:nvSpPr>
        <p:spPr>
          <a:xfrm>
            <a:off x="457200" y="6356350"/>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B6156BEB-3A02-488E-923F-F978CF284041}"/>
              </a:ext>
            </a:extLst>
          </p:cNvPr>
          <p:cNvSpPr>
            <a:spLocks noGrp="1"/>
          </p:cNvSpPr>
          <p:nvPr>
            <p:ph idx="1"/>
          </p:nvPr>
        </p:nvSpPr>
        <p:spPr>
          <a:xfrm>
            <a:off x="457200" y="1219200"/>
            <a:ext cx="8247888" cy="5715000"/>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7. Inference &amp; Enhancement Module</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Polishes the final result for high-quality display.</a:t>
            </a:r>
          </a:p>
          <a:p>
            <a:pPr marL="0" indent="0" algn="just">
              <a:buNone/>
            </a:pPr>
            <a:r>
              <a:rPr lang="en-US" sz="1800" b="1"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Quality Enhancement: </a:t>
            </a:r>
            <a:r>
              <a:rPr lang="en-US" sz="1800" dirty="0">
                <a:latin typeface="Times New Roman" panose="02020603050405020304" pitchFamily="18" charset="0"/>
                <a:cs typeface="Times New Roman" panose="02020603050405020304" pitchFamily="18" charset="0"/>
              </a:rPr>
              <a:t>Upscaling or sharpening the final output from "GAN Iteration 5.“</a:t>
            </a:r>
          </a:p>
          <a:p>
            <a:pPr marL="0" indent="0" algn="just">
              <a:buNone/>
            </a:pPr>
            <a:r>
              <a:rPr lang="en-US" sz="1800" b="1" dirty="0">
                <a:latin typeface="Times New Roman" panose="02020603050405020304" pitchFamily="18" charset="0"/>
                <a:cs typeface="Times New Roman" panose="02020603050405020304" pitchFamily="18" charset="0"/>
              </a:rPr>
              <a:t>Post-Processing: </a:t>
            </a:r>
            <a:r>
              <a:rPr lang="en-US" sz="1800" dirty="0">
                <a:latin typeface="Times New Roman" panose="02020603050405020304" pitchFamily="18" charset="0"/>
                <a:cs typeface="Times New Roman" panose="02020603050405020304" pitchFamily="18" charset="0"/>
              </a:rPr>
              <a:t>Final adjustments before the user sees the result.</a:t>
            </a:r>
          </a:p>
          <a:p>
            <a:pPr marL="0" indent="0" algn="just">
              <a:buNone/>
            </a:pPr>
            <a:endParaRPr lang="en-US" sz="1800" b="1"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8. Training &amp; Storage Module</a:t>
            </a:r>
          </a:p>
          <a:p>
            <a:pPr marL="0" indent="0" algn="just">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Handles the learning process and data persistence.</a:t>
            </a:r>
          </a:p>
          <a:p>
            <a:pPr marL="0" indent="0" algn="just">
              <a:buNone/>
            </a:pPr>
            <a:r>
              <a:rPr lang="en-US" sz="1800" b="1" dirty="0">
                <a:latin typeface="Times New Roman" panose="02020603050405020304" pitchFamily="18" charset="0"/>
                <a:cs typeface="Times New Roman" panose="02020603050405020304" pitchFamily="18" charset="0"/>
              </a:rPr>
              <a:t>Components:</a:t>
            </a:r>
          </a:p>
          <a:p>
            <a:pPr marL="0" indent="0" algn="just">
              <a:buNone/>
            </a:pPr>
            <a:r>
              <a:rPr lang="en-US" sz="1800" b="1" dirty="0">
                <a:latin typeface="Times New Roman" panose="02020603050405020304" pitchFamily="18" charset="0"/>
                <a:cs typeface="Times New Roman" panose="02020603050405020304" pitchFamily="18" charset="0"/>
              </a:rPr>
              <a:t>Dataset Loader: </a:t>
            </a:r>
            <a:r>
              <a:rPr lang="en-US" sz="1800" dirty="0">
                <a:latin typeface="Times New Roman" panose="02020603050405020304" pitchFamily="18" charset="0"/>
                <a:cs typeface="Times New Roman" panose="02020603050405020304" pitchFamily="18" charset="0"/>
              </a:rPr>
              <a:t>Feeds training images to the model.</a:t>
            </a:r>
          </a:p>
          <a:p>
            <a:pPr marL="0" indent="0" algn="just">
              <a:buNone/>
            </a:pPr>
            <a:r>
              <a:rPr lang="en-US" sz="1800" b="1" dirty="0">
                <a:latin typeface="Times New Roman" panose="02020603050405020304" pitchFamily="18" charset="0"/>
                <a:cs typeface="Times New Roman" panose="02020603050405020304" pitchFamily="18" charset="0"/>
              </a:rPr>
              <a:t>Loss Functions &amp; Backpropagation: </a:t>
            </a:r>
            <a:r>
              <a:rPr lang="en-US" sz="1800" dirty="0">
                <a:latin typeface="Times New Roman" panose="02020603050405020304" pitchFamily="18" charset="0"/>
                <a:cs typeface="Times New Roman" panose="02020603050405020304" pitchFamily="18" charset="0"/>
              </a:rPr>
              <a:t>Calculates errors and updates model weights.</a:t>
            </a:r>
          </a:p>
          <a:p>
            <a:pPr marL="0" indent="0" algn="just">
              <a:buNone/>
            </a:pPr>
            <a:r>
              <a:rPr lang="en-US" sz="1800" b="1" dirty="0">
                <a:latin typeface="Times New Roman" panose="02020603050405020304" pitchFamily="18" charset="0"/>
                <a:cs typeface="Times New Roman" panose="02020603050405020304" pitchFamily="18" charset="0"/>
              </a:rPr>
              <a:t>Model Checkpoints: </a:t>
            </a:r>
            <a:r>
              <a:rPr lang="en-US" sz="1800" dirty="0">
                <a:latin typeface="Times New Roman" panose="02020603050405020304" pitchFamily="18" charset="0"/>
                <a:cs typeface="Times New Roman" panose="02020603050405020304" pitchFamily="18" charset="0"/>
              </a:rPr>
              <a:t>Saves the .</a:t>
            </a:r>
            <a:r>
              <a:rPr lang="en-US" sz="1800" dirty="0" err="1">
                <a:latin typeface="Times New Roman" panose="02020603050405020304" pitchFamily="18" charset="0"/>
                <a:cs typeface="Times New Roman" panose="02020603050405020304" pitchFamily="18" charset="0"/>
              </a:rPr>
              <a:t>pth</a:t>
            </a:r>
            <a:r>
              <a:rPr lang="en-US" sz="1800" dirty="0">
                <a:latin typeface="Times New Roman" panose="02020603050405020304" pitchFamily="18" charset="0"/>
                <a:cs typeface="Times New Roman" panose="02020603050405020304" pitchFamily="18" charset="0"/>
              </a:rPr>
              <a:t> files (Iteration 1.pth, 2.pth, etc.).</a:t>
            </a:r>
          </a:p>
          <a:p>
            <a:pPr marL="0" indent="0" algn="just">
              <a:buNone/>
            </a:pPr>
            <a:r>
              <a:rPr lang="en-US" sz="1800" b="1" dirty="0">
                <a:latin typeface="Times New Roman" panose="02020603050405020304" pitchFamily="18" charset="0"/>
                <a:cs typeface="Times New Roman" panose="02020603050405020304" pitchFamily="18" charset="0"/>
              </a:rPr>
              <a:t>Logs &amp; Metrics: </a:t>
            </a:r>
            <a:r>
              <a:rPr lang="en-US" sz="1800" dirty="0">
                <a:latin typeface="Times New Roman" panose="02020603050405020304" pitchFamily="18" charset="0"/>
                <a:cs typeface="Times New Roman" panose="02020603050405020304" pitchFamily="18" charset="0"/>
              </a:rPr>
              <a:t>Tracks performance (loss curves, accuracy).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4941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ADC70-960C-988A-B0A9-E766FE344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76D33-A720-7919-A90D-D3449F300296}"/>
              </a:ext>
            </a:extLst>
          </p:cNvPr>
          <p:cNvSpPr>
            <a:spLocks noGrp="1"/>
          </p:cNvSpPr>
          <p:nvPr>
            <p:ph type="title"/>
          </p:nvPr>
        </p:nvSpPr>
        <p:spPr>
          <a:xfrm>
            <a:off x="448056" y="-152400"/>
            <a:ext cx="8229600" cy="1143000"/>
          </a:xfrm>
        </p:spPr>
        <p:txBody>
          <a:bodyPr>
            <a:normAutofit/>
          </a:bodyPr>
          <a:lstStyle/>
          <a:p>
            <a:r>
              <a:rPr lang="en-US" dirty="0">
                <a:latin typeface="Times New Roman" pitchFamily="18" charset="0"/>
                <a:cs typeface="Times New Roman" pitchFamily="18" charset="0"/>
              </a:rPr>
              <a:t>REFERENCES</a:t>
            </a:r>
          </a:p>
        </p:txBody>
      </p:sp>
      <p:sp>
        <p:nvSpPr>
          <p:cNvPr id="4" name="Footer Placeholder 3">
            <a:extLst>
              <a:ext uri="{FF2B5EF4-FFF2-40B4-BE49-F238E27FC236}">
                <a16:creationId xmlns:a16="http://schemas.microsoft.com/office/drawing/2014/main" id="{DAE320E2-78BC-B4CB-6A03-EAF677ADED4D}"/>
              </a:ext>
            </a:extLst>
          </p:cNvPr>
          <p:cNvSpPr>
            <a:spLocks noGrp="1"/>
          </p:cNvSpPr>
          <p:nvPr>
            <p:ph type="ftr" sz="quarter" idx="11"/>
          </p:nvPr>
        </p:nvSpPr>
        <p:spPr>
          <a:xfrm>
            <a:off x="457200" y="6527927"/>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089A85BA-A286-6E34-F298-B7786E64D9BB}"/>
              </a:ext>
            </a:extLst>
          </p:cNvPr>
          <p:cNvSpPr>
            <a:spLocks noGrp="1"/>
          </p:cNvSpPr>
          <p:nvPr>
            <p:ph idx="1"/>
          </p:nvPr>
        </p:nvSpPr>
        <p:spPr>
          <a:xfrm>
            <a:off x="304800" y="815975"/>
            <a:ext cx="8247888" cy="5715000"/>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[1] </a:t>
            </a:r>
            <a:r>
              <a:rPr lang="en-IN" sz="1800" dirty="0" err="1">
                <a:latin typeface="Times New Roman" panose="02020603050405020304" pitchFamily="18" charset="0"/>
                <a:cs typeface="Times New Roman" panose="02020603050405020304" pitchFamily="18" charset="0"/>
              </a:rPr>
              <a:t>Asimopoulos</a:t>
            </a:r>
            <a:r>
              <a:rPr lang="en-IN" sz="1800" dirty="0">
                <a:latin typeface="Times New Roman" panose="02020603050405020304" pitchFamily="18" charset="0"/>
                <a:cs typeface="Times New Roman" panose="02020603050405020304" pitchFamily="18" charset="0"/>
              </a:rPr>
              <a:t>, D. C., </a:t>
            </a:r>
            <a:r>
              <a:rPr lang="en-IN" sz="1800" dirty="0" err="1">
                <a:latin typeface="Times New Roman" panose="02020603050405020304" pitchFamily="18" charset="0"/>
                <a:cs typeface="Times New Roman" panose="02020603050405020304" pitchFamily="18" charset="0"/>
              </a:rPr>
              <a:t>Nitsiou</a:t>
            </a:r>
            <a:r>
              <a:rPr lang="en-IN" sz="1800" dirty="0">
                <a:latin typeface="Times New Roman" panose="02020603050405020304" pitchFamily="18" charset="0"/>
                <a:cs typeface="Times New Roman" panose="02020603050405020304" pitchFamily="18" charset="0"/>
              </a:rPr>
              <a:t>, M., Lazaridis, L., &amp; </a:t>
            </a:r>
            <a:r>
              <a:rPr lang="en-IN" sz="1800" dirty="0" err="1">
                <a:latin typeface="Times New Roman" panose="02020603050405020304" pitchFamily="18" charset="0"/>
                <a:cs typeface="Times New Roman" panose="02020603050405020304" pitchFamily="18" charset="0"/>
              </a:rPr>
              <a:t>Fragulis</a:t>
            </a:r>
            <a:r>
              <a:rPr lang="en-IN" sz="1800" dirty="0">
                <a:latin typeface="Times New Roman" panose="02020603050405020304" pitchFamily="18" charset="0"/>
                <a:cs typeface="Times New Roman" panose="02020603050405020304" pitchFamily="18" charset="0"/>
              </a:rPr>
              <a:t>, G. F. (2022). Generative Adversarial Networks: a systematic review and applications. </a:t>
            </a:r>
            <a:r>
              <a:rPr lang="en-IN" sz="1800" i="1" dirty="0">
                <a:latin typeface="Times New Roman" panose="02020603050405020304" pitchFamily="18" charset="0"/>
                <a:cs typeface="Times New Roman" panose="02020603050405020304" pitchFamily="18" charset="0"/>
              </a:rPr>
              <a:t>SHS Web of Conferences</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139</a:t>
            </a:r>
            <a:r>
              <a:rPr lang="en-IN" sz="1800" dirty="0">
                <a:latin typeface="Times New Roman" panose="02020603050405020304" pitchFamily="18" charset="0"/>
                <a:cs typeface="Times New Roman" panose="02020603050405020304" pitchFamily="18" charset="0"/>
              </a:rPr>
              <a:t>, 03012. </a:t>
            </a:r>
            <a:r>
              <a:rPr lang="en-IN" sz="1800" dirty="0">
                <a:latin typeface="Times New Roman" panose="02020603050405020304" pitchFamily="18" charset="0"/>
                <a:cs typeface="Times New Roman" panose="02020603050405020304" pitchFamily="18" charset="0"/>
                <a:hlinkClick r:id="rId2"/>
              </a:rPr>
              <a:t>https://doi.org/10.1051/shsconf/202213903012</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 Fan, D., Huang, Z., Zheng, P., Liu, H., Qin, X., &amp; Van Gool, L. (2022). Facial-sketch synthesis: a new challenge. </a:t>
            </a:r>
            <a:r>
              <a:rPr lang="en-IN" sz="1800" i="1" dirty="0">
                <a:latin typeface="Times New Roman" panose="02020603050405020304" pitchFamily="18" charset="0"/>
                <a:cs typeface="Times New Roman" panose="02020603050405020304" pitchFamily="18" charset="0"/>
              </a:rPr>
              <a:t>Machine Intelligence Research</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19</a:t>
            </a:r>
            <a:r>
              <a:rPr lang="en-IN" sz="1800" dirty="0">
                <a:latin typeface="Times New Roman" panose="02020603050405020304" pitchFamily="18" charset="0"/>
                <a:cs typeface="Times New Roman" panose="02020603050405020304" pitchFamily="18" charset="0"/>
              </a:rPr>
              <a:t>(4), 257–287. </a:t>
            </a:r>
            <a:r>
              <a:rPr lang="en-IN" sz="1800" dirty="0">
                <a:latin typeface="Times New Roman" panose="02020603050405020304" pitchFamily="18" charset="0"/>
                <a:cs typeface="Times New Roman" panose="02020603050405020304" pitchFamily="18" charset="0"/>
                <a:hlinkClick r:id="rId3"/>
              </a:rPr>
              <a:t>https://doi.org/10.1007/s11633-022-1349-9</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[3] Gao, F., Zhu, Y., Jiang, C., &amp; Wang, N. (2023). Human-Inspired Facial Sketch Synthesis with Dynamic Adaptation. </a:t>
            </a:r>
            <a:r>
              <a:rPr lang="en-IN" sz="1800" i="1" dirty="0">
                <a:latin typeface="Times New Roman" panose="02020603050405020304" pitchFamily="18" charset="0"/>
                <a:cs typeface="Times New Roman" panose="02020603050405020304" pitchFamily="18" charset="0"/>
              </a:rPr>
              <a:t>Human-Inspired Facial Sketch Synthesis</a:t>
            </a:r>
            <a:r>
              <a:rPr lang="en-IN" sz="1800" dirty="0">
                <a:latin typeface="Times New Roman" panose="02020603050405020304" pitchFamily="18" charset="0"/>
                <a:cs typeface="Times New Roman" panose="02020603050405020304" pitchFamily="18" charset="0"/>
              </a:rPr>
              <a:t>, 7203–7213. </a:t>
            </a:r>
            <a:r>
              <a:rPr lang="en-IN" sz="1800" dirty="0">
                <a:latin typeface="Times New Roman" panose="02020603050405020304" pitchFamily="18" charset="0"/>
                <a:cs typeface="Times New Roman" panose="02020603050405020304" pitchFamily="18" charset="0"/>
                <a:hlinkClick r:id="rId4"/>
              </a:rPr>
              <a:t>https://doi.org/10.1109/iccv51070.2023.00665</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[4] Gao, L., Liu, F., Chen, S., Jiang, K., Li, C., Lai, Y., &amp; Fu, H. (2023). </a:t>
            </a:r>
            <a:r>
              <a:rPr lang="en-IN" sz="1800" dirty="0" err="1">
                <a:latin typeface="Times New Roman" panose="02020603050405020304" pitchFamily="18" charset="0"/>
                <a:cs typeface="Times New Roman" panose="02020603050405020304" pitchFamily="18" charset="0"/>
              </a:rPr>
              <a:t>SketchFaceNERF</a:t>
            </a:r>
            <a:r>
              <a:rPr lang="en-IN" sz="1800" dirty="0">
                <a:latin typeface="Times New Roman" panose="02020603050405020304" pitchFamily="18" charset="0"/>
                <a:cs typeface="Times New Roman" panose="02020603050405020304" pitchFamily="18" charset="0"/>
              </a:rPr>
              <a:t>: Sketch-based facial generation and editing in neural radiance fields. </a:t>
            </a:r>
            <a:r>
              <a:rPr lang="en-IN" sz="1800" i="1" dirty="0">
                <a:latin typeface="Times New Roman" panose="02020603050405020304" pitchFamily="18" charset="0"/>
                <a:cs typeface="Times New Roman" panose="02020603050405020304" pitchFamily="18" charset="0"/>
              </a:rPr>
              <a:t>ACM Transactions on Graphics</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42</a:t>
            </a:r>
            <a:r>
              <a:rPr lang="en-IN" sz="1800" dirty="0">
                <a:latin typeface="Times New Roman" panose="02020603050405020304" pitchFamily="18" charset="0"/>
                <a:cs typeface="Times New Roman" panose="02020603050405020304" pitchFamily="18" charset="0"/>
              </a:rPr>
              <a:t>(4), 1–17. </a:t>
            </a:r>
            <a:r>
              <a:rPr lang="en-IN" sz="1800" dirty="0">
                <a:latin typeface="Times New Roman" panose="02020603050405020304" pitchFamily="18" charset="0"/>
                <a:cs typeface="Times New Roman" panose="02020603050405020304" pitchFamily="18" charset="0"/>
                <a:hlinkClick r:id="rId5"/>
              </a:rPr>
              <a:t>https://doi.org/10.1145/3592100</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[5] </a:t>
            </a:r>
            <a:r>
              <a:rPr lang="en-IN" sz="1800" dirty="0" err="1">
                <a:latin typeface="Times New Roman" panose="02020603050405020304" pitchFamily="18" charset="0"/>
                <a:cs typeface="Times New Roman" panose="02020603050405020304" pitchFamily="18" charset="0"/>
              </a:rPr>
              <a:t>Gunjate</a:t>
            </a:r>
            <a:r>
              <a:rPr lang="en-IN" sz="1800" dirty="0">
                <a:latin typeface="Times New Roman" panose="02020603050405020304" pitchFamily="18" charset="0"/>
                <a:cs typeface="Times New Roman" panose="02020603050405020304" pitchFamily="18" charset="0"/>
              </a:rPr>
              <a:t>, S., Nakhate, T., Kshirsagar, T., &amp; </a:t>
            </a:r>
            <a:r>
              <a:rPr lang="en-IN" sz="1800" dirty="0" err="1">
                <a:latin typeface="Times New Roman" panose="02020603050405020304" pitchFamily="18" charset="0"/>
                <a:cs typeface="Times New Roman" panose="02020603050405020304" pitchFamily="18" charset="0"/>
              </a:rPr>
              <a:t>Sapat</a:t>
            </a:r>
            <a:r>
              <a:rPr lang="en-IN" sz="1800" dirty="0">
                <a:latin typeface="Times New Roman" panose="02020603050405020304" pitchFamily="18" charset="0"/>
                <a:cs typeface="Times New Roman" panose="02020603050405020304" pitchFamily="18" charset="0"/>
              </a:rPr>
              <a:t>, Y. (2023). Sketch to Image using GAN. </a:t>
            </a:r>
            <a:r>
              <a:rPr lang="en-IN" sz="1800" i="1" dirty="0" err="1">
                <a:latin typeface="Times New Roman" panose="02020603050405020304" pitchFamily="18" charset="0"/>
                <a:cs typeface="Times New Roman" panose="02020603050405020304" pitchFamily="18" charset="0"/>
              </a:rPr>
              <a:t>Zenodo</a:t>
            </a:r>
            <a:r>
              <a:rPr lang="en-IN" sz="1800" i="1" dirty="0">
                <a:latin typeface="Times New Roman" panose="02020603050405020304" pitchFamily="18" charset="0"/>
                <a:cs typeface="Times New Roman" panose="02020603050405020304" pitchFamily="18" charset="0"/>
              </a:rPr>
              <a:t> (CERN European Organization for Nuclear Research)</a:t>
            </a:r>
            <a:r>
              <a:rPr lang="en-IN" sz="1800" dirty="0">
                <a:latin typeface="Times New Roman" panose="02020603050405020304" pitchFamily="18" charset="0"/>
                <a:cs typeface="Times New Roman" panose="02020603050405020304" pitchFamily="18" charset="0"/>
              </a:rPr>
              <a:t>. https://doi.org/10.5281/zenodo.7588232</a:t>
            </a:r>
          </a:p>
          <a:p>
            <a:pPr marL="0" indent="0" algn="jus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244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C3C66-73E1-C1C2-CB2A-5C4B9D026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9F65E-CF85-F08A-64E6-65F28E027571}"/>
              </a:ext>
            </a:extLst>
          </p:cNvPr>
          <p:cNvSpPr>
            <a:spLocks noGrp="1"/>
          </p:cNvSpPr>
          <p:nvPr>
            <p:ph type="title"/>
          </p:nvPr>
        </p:nvSpPr>
        <p:spPr>
          <a:xfrm>
            <a:off x="448056" y="-152400"/>
            <a:ext cx="8229600" cy="1143000"/>
          </a:xfrm>
        </p:spPr>
        <p:txBody>
          <a:bodyPr>
            <a:normAutofit/>
          </a:bodyPr>
          <a:lstStyle/>
          <a:p>
            <a:r>
              <a:rPr lang="en-US" dirty="0">
                <a:latin typeface="Times New Roman" pitchFamily="18" charset="0"/>
                <a:cs typeface="Times New Roman" pitchFamily="18" charset="0"/>
              </a:rPr>
              <a:t>REFERENCES</a:t>
            </a:r>
          </a:p>
        </p:txBody>
      </p:sp>
      <p:sp>
        <p:nvSpPr>
          <p:cNvPr id="4" name="Footer Placeholder 3">
            <a:extLst>
              <a:ext uri="{FF2B5EF4-FFF2-40B4-BE49-F238E27FC236}">
                <a16:creationId xmlns:a16="http://schemas.microsoft.com/office/drawing/2014/main" id="{A22468DE-68D8-00C4-BCC4-9293B0581661}"/>
              </a:ext>
            </a:extLst>
          </p:cNvPr>
          <p:cNvSpPr>
            <a:spLocks noGrp="1"/>
          </p:cNvSpPr>
          <p:nvPr>
            <p:ph type="ftr" sz="quarter" idx="11"/>
          </p:nvPr>
        </p:nvSpPr>
        <p:spPr>
          <a:xfrm>
            <a:off x="457200" y="6527927"/>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54C9E3F4-1006-7B28-CC93-B006733B6FD5}"/>
              </a:ext>
            </a:extLst>
          </p:cNvPr>
          <p:cNvSpPr>
            <a:spLocks noGrp="1"/>
          </p:cNvSpPr>
          <p:nvPr>
            <p:ph idx="1"/>
          </p:nvPr>
        </p:nvSpPr>
        <p:spPr>
          <a:xfrm>
            <a:off x="190500" y="725424"/>
            <a:ext cx="8763000" cy="5768975"/>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[6] Jain, K. K., J, A. V., &amp; Namboodiri, A. (2024). PS-StyleGAN: Illustrative Portrait Sketching using Attention-Based Style Adaptation.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(Cornell University)</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https://doi.org/10.48550/arxiv.2409.00345</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[7] Jang, W., Jung, Y., Kim, H., Ju, G., Son, C., Son, J., &amp; Lee, S. (2024). Toonify3D: StyleGAN-based 3D Stylized Face Generator. </a:t>
            </a:r>
            <a:r>
              <a:rPr lang="en-IN" sz="1800" i="1" dirty="0">
                <a:latin typeface="Times New Roman" panose="02020603050405020304" pitchFamily="18" charset="0"/>
                <a:cs typeface="Times New Roman" panose="02020603050405020304" pitchFamily="18" charset="0"/>
              </a:rPr>
              <a:t>https://dl.acm.org/doi/proceedings/10.1145/3641519</a:t>
            </a:r>
            <a:r>
              <a:rPr lang="en-IN" sz="1800" dirty="0">
                <a:latin typeface="Times New Roman" panose="02020603050405020304" pitchFamily="18" charset="0"/>
                <a:cs typeface="Times New Roman" panose="02020603050405020304" pitchFamily="18" charset="0"/>
              </a:rPr>
              <a:t>, 1–11. </a:t>
            </a:r>
            <a:r>
              <a:rPr lang="en-IN" sz="1800" dirty="0">
                <a:latin typeface="Times New Roman" panose="02020603050405020304" pitchFamily="18" charset="0"/>
                <a:cs typeface="Times New Roman" panose="02020603050405020304" pitchFamily="18" charset="0"/>
                <a:hlinkClick r:id="rId3"/>
              </a:rPr>
              <a:t>https://doi.org/10.1145/3641519.3657480</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[8] Koley, S., Bhunia, A. K., Sain, A., Chowdhury, P. N., Xiang, T., &amp; Song, Y. (2023). Picture that Sketch: Photorealistic Image Generation from Abstract Sketches.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(Cornell University)</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4"/>
              </a:rPr>
              <a:t>https://doi.org/10.48550/arxiv.2303.11162</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[9] Koley, S., Bhunia, A. K., Sain, A., Chowdhury, P. N., Xiang, T., &amp; Song, Y. (2024). How to handle Sketch-Abstraction in Sketch-Based Image retrieval?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(Cornell University)</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5"/>
              </a:rPr>
              <a:t>https://doi.org/10.48550/arxiv.2403.07203</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[10] Li, J., Wang, W., Nan, Y., &amp; Ji, H. (2023). Self-Supervised blind motion deblurring with deep expectation maximization. </a:t>
            </a:r>
            <a:r>
              <a:rPr lang="en-IN" sz="1800" i="1" dirty="0">
                <a:latin typeface="Times New Roman" panose="02020603050405020304" pitchFamily="18" charset="0"/>
                <a:cs typeface="Times New Roman" panose="02020603050405020304" pitchFamily="18" charset="0"/>
              </a:rPr>
              <a:t>Self-Supervised Blind Motion</a:t>
            </a:r>
            <a:r>
              <a:rPr lang="en-IN" sz="1800" dirty="0">
                <a:latin typeface="Times New Roman" panose="02020603050405020304" pitchFamily="18" charset="0"/>
                <a:cs typeface="Times New Roman" panose="02020603050405020304" pitchFamily="18" charset="0"/>
              </a:rPr>
              <a:t>, 13986–13996. https://doi.org/10.1109/cvpr52729.2023.01344</a:t>
            </a:r>
          </a:p>
          <a:p>
            <a:pPr marL="0" indent="0" algn="jus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882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499F-DEC3-AED4-CCCE-A929A476E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59A3A-ACC8-88CF-F9C6-94DABC8217E1}"/>
              </a:ext>
            </a:extLst>
          </p:cNvPr>
          <p:cNvSpPr>
            <a:spLocks noGrp="1"/>
          </p:cNvSpPr>
          <p:nvPr>
            <p:ph type="title"/>
          </p:nvPr>
        </p:nvSpPr>
        <p:spPr>
          <a:xfrm>
            <a:off x="448056" y="-152400"/>
            <a:ext cx="8229600" cy="1143000"/>
          </a:xfrm>
        </p:spPr>
        <p:txBody>
          <a:bodyPr>
            <a:normAutofit/>
          </a:bodyPr>
          <a:lstStyle/>
          <a:p>
            <a:r>
              <a:rPr lang="en-US" dirty="0">
                <a:latin typeface="Times New Roman" pitchFamily="18" charset="0"/>
                <a:cs typeface="Times New Roman" pitchFamily="18" charset="0"/>
              </a:rPr>
              <a:t>REFERENCES</a:t>
            </a:r>
          </a:p>
        </p:txBody>
      </p:sp>
      <p:sp>
        <p:nvSpPr>
          <p:cNvPr id="4" name="Footer Placeholder 3">
            <a:extLst>
              <a:ext uri="{FF2B5EF4-FFF2-40B4-BE49-F238E27FC236}">
                <a16:creationId xmlns:a16="http://schemas.microsoft.com/office/drawing/2014/main" id="{68B9D5ED-F407-16AA-0C8F-9E7D73081E87}"/>
              </a:ext>
            </a:extLst>
          </p:cNvPr>
          <p:cNvSpPr>
            <a:spLocks noGrp="1"/>
          </p:cNvSpPr>
          <p:nvPr>
            <p:ph type="ftr" sz="quarter" idx="11"/>
          </p:nvPr>
        </p:nvSpPr>
        <p:spPr>
          <a:xfrm>
            <a:off x="457200" y="6527927"/>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4034E2BB-E080-EF4E-85B6-9D49470F481C}"/>
              </a:ext>
            </a:extLst>
          </p:cNvPr>
          <p:cNvSpPr>
            <a:spLocks noGrp="1"/>
          </p:cNvSpPr>
          <p:nvPr>
            <p:ph idx="1"/>
          </p:nvPr>
        </p:nvSpPr>
        <p:spPr>
          <a:xfrm>
            <a:off x="181356" y="877824"/>
            <a:ext cx="8763000" cy="5768975"/>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[11] </a:t>
            </a:r>
            <a:r>
              <a:rPr lang="en-IN" sz="1800" dirty="0" err="1">
                <a:latin typeface="Times New Roman" panose="02020603050405020304" pitchFamily="18" charset="0"/>
                <a:cs typeface="Times New Roman" panose="02020603050405020304" pitchFamily="18" charset="0"/>
              </a:rPr>
              <a:t>Mudhalwadkar</a:t>
            </a:r>
            <a:r>
              <a:rPr lang="en-IN" sz="1800" dirty="0">
                <a:latin typeface="Times New Roman" panose="02020603050405020304" pitchFamily="18" charset="0"/>
                <a:cs typeface="Times New Roman" panose="02020603050405020304" pitchFamily="18" charset="0"/>
              </a:rPr>
              <a:t>, N. P., </a:t>
            </a:r>
            <a:r>
              <a:rPr lang="en-IN" sz="1800" dirty="0" err="1">
                <a:latin typeface="Times New Roman" panose="02020603050405020304" pitchFamily="18" charset="0"/>
                <a:cs typeface="Times New Roman" panose="02020603050405020304" pitchFamily="18" charset="0"/>
              </a:rPr>
              <a:t>Mokayed</a:t>
            </a:r>
            <a:r>
              <a:rPr lang="en-IN" sz="1800" dirty="0">
                <a:latin typeface="Times New Roman" panose="02020603050405020304" pitchFamily="18" charset="0"/>
                <a:cs typeface="Times New Roman" panose="02020603050405020304" pitchFamily="18" charset="0"/>
              </a:rPr>
              <a:t>, H., </a:t>
            </a:r>
            <a:r>
              <a:rPr lang="en-IN" sz="1800" dirty="0" err="1">
                <a:latin typeface="Times New Roman" panose="02020603050405020304" pitchFamily="18" charset="0"/>
                <a:cs typeface="Times New Roman" panose="02020603050405020304" pitchFamily="18" charset="0"/>
              </a:rPr>
              <a:t>Alkhaled</a:t>
            </a:r>
            <a:r>
              <a:rPr lang="en-IN" sz="1800" dirty="0">
                <a:latin typeface="Times New Roman" panose="02020603050405020304" pitchFamily="18" charset="0"/>
                <a:cs typeface="Times New Roman" panose="02020603050405020304" pitchFamily="18" charset="0"/>
              </a:rPr>
              <a:t>, L., </a:t>
            </a:r>
            <a:r>
              <a:rPr lang="en-IN" sz="1800" dirty="0" err="1">
                <a:latin typeface="Times New Roman" panose="02020603050405020304" pitchFamily="18" charset="0"/>
                <a:cs typeface="Times New Roman" panose="02020603050405020304" pitchFamily="18" charset="0"/>
              </a:rPr>
              <a:t>Shivakumara</a:t>
            </a:r>
            <a:r>
              <a:rPr lang="en-IN" sz="1800" dirty="0">
                <a:latin typeface="Times New Roman" panose="02020603050405020304" pitchFamily="18" charset="0"/>
                <a:cs typeface="Times New Roman" panose="02020603050405020304" pitchFamily="18" charset="0"/>
              </a:rPr>
              <a:t>, P., &amp; Hum, Y. C. (2023). Anime sketch colourization using enhanced Pix2Pix GAN. In </a:t>
            </a:r>
            <a:r>
              <a:rPr lang="en-IN" sz="1800" i="1" dirty="0">
                <a:latin typeface="Times New Roman" panose="02020603050405020304" pitchFamily="18" charset="0"/>
                <a:cs typeface="Times New Roman" panose="02020603050405020304" pitchFamily="18" charset="0"/>
              </a:rPr>
              <a:t>Lecture notes in computer science</a:t>
            </a:r>
            <a:r>
              <a:rPr lang="en-IN" sz="1800" dirty="0">
                <a:latin typeface="Times New Roman" panose="02020603050405020304" pitchFamily="18" charset="0"/>
                <a:cs typeface="Times New Roman" panose="02020603050405020304" pitchFamily="18" charset="0"/>
              </a:rPr>
              <a:t> (pp. 148–164). </a:t>
            </a:r>
            <a:r>
              <a:rPr lang="en-IN" sz="1800" dirty="0">
                <a:latin typeface="Times New Roman" panose="02020603050405020304" pitchFamily="18" charset="0"/>
                <a:cs typeface="Times New Roman" panose="02020603050405020304" pitchFamily="18" charset="0"/>
                <a:hlinkClick r:id="rId2"/>
              </a:rPr>
              <a:t>https://doi.org/10.1007/978-3-031-47634-1_12</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[12] Nagpal, S. (2022). Sketch-to-Face Image Translation and enhancement using a Multi-GAN approach. </a:t>
            </a:r>
            <a:r>
              <a:rPr lang="en-IN" sz="1800" i="1" dirty="0">
                <a:latin typeface="Times New Roman" panose="02020603050405020304" pitchFamily="18" charset="0"/>
                <a:cs typeface="Times New Roman" panose="02020603050405020304" pitchFamily="18" charset="0"/>
              </a:rPr>
              <a:t>International Journal for Research in Applied Science and Engineering Technology</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10</a:t>
            </a:r>
            <a:r>
              <a:rPr lang="en-IN" sz="1800" dirty="0">
                <a:latin typeface="Times New Roman" panose="02020603050405020304" pitchFamily="18" charset="0"/>
                <a:cs typeface="Times New Roman" panose="02020603050405020304" pitchFamily="18" charset="0"/>
              </a:rPr>
              <a:t>(12), 844–848. </a:t>
            </a:r>
            <a:r>
              <a:rPr lang="en-IN" sz="1800" dirty="0">
                <a:latin typeface="Times New Roman" panose="02020603050405020304" pitchFamily="18" charset="0"/>
                <a:cs typeface="Times New Roman" panose="02020603050405020304" pitchFamily="18" charset="0"/>
                <a:hlinkClick r:id="rId3"/>
              </a:rPr>
              <a:t>https://doi.org/10.22214/ijraset.2022.48041</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[13] Okada, M., &amp; Taniguchi, T. (2021). Dreaming: Model-based Reinforcement Learning by Latent Imagination without Reconstruction. </a:t>
            </a:r>
            <a:r>
              <a:rPr lang="en-IN" sz="1800" i="1" dirty="0">
                <a:latin typeface="Times New Roman" panose="02020603050405020304" pitchFamily="18" charset="0"/>
                <a:cs typeface="Times New Roman" panose="02020603050405020304" pitchFamily="18" charset="0"/>
              </a:rPr>
              <a:t>arXiv:2007.14535</a:t>
            </a:r>
            <a:r>
              <a:rPr lang="en-IN" sz="1800" dirty="0">
                <a:latin typeface="Times New Roman" panose="02020603050405020304" pitchFamily="18" charset="0"/>
                <a:cs typeface="Times New Roman" panose="02020603050405020304" pitchFamily="18" charset="0"/>
              </a:rPr>
              <a:t>, 4209–4215. </a:t>
            </a:r>
            <a:r>
              <a:rPr lang="en-IN" sz="1800" dirty="0">
                <a:latin typeface="Times New Roman" panose="02020603050405020304" pitchFamily="18" charset="0"/>
                <a:cs typeface="Times New Roman" panose="02020603050405020304" pitchFamily="18" charset="0"/>
                <a:hlinkClick r:id="rId4"/>
              </a:rPr>
              <a:t>https://doi.org/10.1109/icra48506.2021.9560734</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[14] Peng, Y., Zhao, C., Xie, H., </a:t>
            </a:r>
            <a:r>
              <a:rPr lang="en-IN" sz="1800" dirty="0" err="1">
                <a:latin typeface="Times New Roman" panose="02020603050405020304" pitchFamily="18" charset="0"/>
                <a:cs typeface="Times New Roman" panose="02020603050405020304" pitchFamily="18" charset="0"/>
              </a:rPr>
              <a:t>Fukusato</a:t>
            </a:r>
            <a:r>
              <a:rPr lang="en-IN" sz="1800" dirty="0">
                <a:latin typeface="Times New Roman" panose="02020603050405020304" pitchFamily="18" charset="0"/>
                <a:cs typeface="Times New Roman" panose="02020603050405020304" pitchFamily="18" charset="0"/>
              </a:rPr>
              <a:t>, T., &amp; Miyata, K. (2023). Sketch-Guided Latent Diffusion model for High-Fidelity Face Image Synthesis.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12</a:t>
            </a:r>
            <a:r>
              <a:rPr lang="en-IN" sz="1800" dirty="0">
                <a:latin typeface="Times New Roman" panose="02020603050405020304" pitchFamily="18" charset="0"/>
                <a:cs typeface="Times New Roman" panose="02020603050405020304" pitchFamily="18" charset="0"/>
              </a:rPr>
              <a:t>, 5770–5780. </a:t>
            </a:r>
            <a:r>
              <a:rPr lang="en-IN" sz="1800" dirty="0">
                <a:latin typeface="Times New Roman" panose="02020603050405020304" pitchFamily="18" charset="0"/>
                <a:cs typeface="Times New Roman" panose="02020603050405020304" pitchFamily="18" charset="0"/>
                <a:hlinkClick r:id="rId5"/>
              </a:rPr>
              <a:t>https://doi.org/10.1109/access.2023.3346408</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[15] S, S., Kumar, R. P., &amp; Mudassir, S. N. (2023). Sketch to Image synthesis using attention based contextual GAN. </a:t>
            </a:r>
            <a:r>
              <a:rPr lang="en-IN" sz="1800" i="1" dirty="0">
                <a:latin typeface="Times New Roman" panose="02020603050405020304" pitchFamily="18" charset="0"/>
                <a:cs typeface="Times New Roman" panose="02020603050405020304" pitchFamily="18" charset="0"/>
              </a:rPr>
              <a:t>IEEE</a:t>
            </a:r>
            <a:r>
              <a:rPr lang="en-IN" sz="1800" dirty="0">
                <a:latin typeface="Times New Roman" panose="02020603050405020304" pitchFamily="18" charset="0"/>
                <a:cs typeface="Times New Roman" panose="02020603050405020304" pitchFamily="18" charset="0"/>
              </a:rPr>
              <a:t>, 1–6.  https://doi.org/10.1109/icccnt56998.2023.10306444</a:t>
            </a:r>
          </a:p>
          <a:p>
            <a:pPr marL="0" indent="0" algn="jus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9838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8FFA7-AC7A-73B3-DEDF-92AC80D83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A26ED-5F07-7620-1D5C-BE3E243AB299}"/>
              </a:ext>
            </a:extLst>
          </p:cNvPr>
          <p:cNvSpPr>
            <a:spLocks noGrp="1"/>
          </p:cNvSpPr>
          <p:nvPr>
            <p:ph type="title"/>
          </p:nvPr>
        </p:nvSpPr>
        <p:spPr>
          <a:xfrm>
            <a:off x="448056" y="-152400"/>
            <a:ext cx="8229600" cy="1143000"/>
          </a:xfrm>
        </p:spPr>
        <p:txBody>
          <a:bodyPr>
            <a:normAutofit/>
          </a:bodyPr>
          <a:lstStyle/>
          <a:p>
            <a:r>
              <a:rPr lang="en-US" dirty="0">
                <a:latin typeface="Times New Roman" pitchFamily="18" charset="0"/>
                <a:cs typeface="Times New Roman" pitchFamily="18" charset="0"/>
              </a:rPr>
              <a:t>REFERENCES</a:t>
            </a:r>
          </a:p>
        </p:txBody>
      </p:sp>
      <p:sp>
        <p:nvSpPr>
          <p:cNvPr id="4" name="Footer Placeholder 3">
            <a:extLst>
              <a:ext uri="{FF2B5EF4-FFF2-40B4-BE49-F238E27FC236}">
                <a16:creationId xmlns:a16="http://schemas.microsoft.com/office/drawing/2014/main" id="{256A21BC-E85F-316D-96DC-5BF83C58BAA4}"/>
              </a:ext>
            </a:extLst>
          </p:cNvPr>
          <p:cNvSpPr>
            <a:spLocks noGrp="1"/>
          </p:cNvSpPr>
          <p:nvPr>
            <p:ph type="ftr" sz="quarter" idx="11"/>
          </p:nvPr>
        </p:nvSpPr>
        <p:spPr>
          <a:xfrm>
            <a:off x="457200" y="6527927"/>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E542E044-F1BA-398B-22A2-A5DFA1516E9D}"/>
              </a:ext>
            </a:extLst>
          </p:cNvPr>
          <p:cNvSpPr>
            <a:spLocks noGrp="1"/>
          </p:cNvSpPr>
          <p:nvPr>
            <p:ph idx="1"/>
          </p:nvPr>
        </p:nvSpPr>
        <p:spPr>
          <a:xfrm>
            <a:off x="181356" y="877824"/>
            <a:ext cx="8763000" cy="5768975"/>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[16] </a:t>
            </a:r>
            <a:r>
              <a:rPr lang="en-IN" sz="1800" dirty="0" err="1">
                <a:latin typeface="Times New Roman" panose="02020603050405020304" pitchFamily="18" charset="0"/>
                <a:cs typeface="Times New Roman" panose="02020603050405020304" pitchFamily="18" charset="0"/>
              </a:rPr>
              <a:t>Striuk</a:t>
            </a:r>
            <a:r>
              <a:rPr lang="en-IN" sz="1800" dirty="0">
                <a:latin typeface="Times New Roman" panose="02020603050405020304" pitchFamily="18" charset="0"/>
                <a:cs typeface="Times New Roman" panose="02020603050405020304" pitchFamily="18" charset="0"/>
              </a:rPr>
              <a:t>, O., &amp; Kondratenko, Y. (2021). Generative adversarial neural networks and deep learning: successful cases and advanced approaches. </a:t>
            </a:r>
            <a:r>
              <a:rPr lang="en-IN" sz="1800" i="1" dirty="0">
                <a:latin typeface="Times New Roman" panose="02020603050405020304" pitchFamily="18" charset="0"/>
                <a:cs typeface="Times New Roman" panose="02020603050405020304" pitchFamily="18" charset="0"/>
              </a:rPr>
              <a:t>International Journal of Computing</a:t>
            </a:r>
            <a:r>
              <a:rPr lang="en-IN" sz="1800" dirty="0">
                <a:latin typeface="Times New Roman" panose="02020603050405020304" pitchFamily="18" charset="0"/>
                <a:cs typeface="Times New Roman" panose="02020603050405020304" pitchFamily="18" charset="0"/>
              </a:rPr>
              <a:t>, 339–349. </a:t>
            </a:r>
            <a:r>
              <a:rPr lang="en-IN" sz="1800" dirty="0">
                <a:latin typeface="Times New Roman" panose="02020603050405020304" pitchFamily="18" charset="0"/>
                <a:cs typeface="Times New Roman" panose="02020603050405020304" pitchFamily="18" charset="0"/>
                <a:hlinkClick r:id="rId2"/>
              </a:rPr>
              <a:t>https://doi.org/10.47839/ijc.20.3.2278</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[17] Sun, B., Lu, G., &amp; Zheng, S. (2024). Multi-Style Facial Sketch Synthesis through Masked Generative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(Cornell University)</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3"/>
              </a:rPr>
              <a:t>https://doi.org/10.48550/arxiv.2408.12400</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[18] Xia, W., Yang, Y., Xue, J., &amp; Wu, B. (2021). </a:t>
            </a:r>
            <a:r>
              <a:rPr lang="en-IN" sz="1800" dirty="0" err="1">
                <a:latin typeface="Times New Roman" panose="02020603050405020304" pitchFamily="18" charset="0"/>
                <a:cs typeface="Times New Roman" panose="02020603050405020304" pitchFamily="18" charset="0"/>
              </a:rPr>
              <a:t>TediGAN</a:t>
            </a:r>
            <a:r>
              <a:rPr lang="en-IN" sz="1800" dirty="0">
                <a:latin typeface="Times New Roman" panose="02020603050405020304" pitchFamily="18" charset="0"/>
                <a:cs typeface="Times New Roman" panose="02020603050405020304" pitchFamily="18" charset="0"/>
              </a:rPr>
              <a:t>: Text-Guided Diverse Face Image Generation and Manipulation. </a:t>
            </a:r>
            <a:r>
              <a:rPr lang="en-IN" sz="1800" i="1" dirty="0">
                <a:latin typeface="Times New Roman" panose="02020603050405020304" pitchFamily="18" charset="0"/>
                <a:cs typeface="Times New Roman" panose="02020603050405020304" pitchFamily="18" charset="0"/>
              </a:rPr>
              <a:t>SHS Web of Conference</a:t>
            </a:r>
            <a:r>
              <a:rPr lang="en-IN" sz="1800" dirty="0">
                <a:latin typeface="Times New Roman" panose="02020603050405020304" pitchFamily="18" charset="0"/>
                <a:cs typeface="Times New Roman" panose="02020603050405020304" pitchFamily="18" charset="0"/>
              </a:rPr>
              <a:t>, 2256–2265. </a:t>
            </a:r>
            <a:r>
              <a:rPr lang="en-IN" sz="1800" dirty="0">
                <a:latin typeface="Times New Roman" panose="02020603050405020304" pitchFamily="18" charset="0"/>
                <a:cs typeface="Times New Roman" panose="02020603050405020304" pitchFamily="18" charset="0"/>
                <a:hlinkClick r:id="rId4"/>
              </a:rPr>
              <a:t>https://doi.org/10.1109/cvpr46437.2021.00229</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[19] Yun, K., Seo, K., Seo, C. W., Yoon, S., Kim, S., Ji, S., </a:t>
            </a:r>
            <a:r>
              <a:rPr lang="en-IN" sz="1800" dirty="0" err="1">
                <a:latin typeface="Times New Roman" panose="02020603050405020304" pitchFamily="18" charset="0"/>
                <a:cs typeface="Times New Roman" panose="02020603050405020304" pitchFamily="18" charset="0"/>
              </a:rPr>
              <a:t>Ashtari</a:t>
            </a:r>
            <a:r>
              <a:rPr lang="en-IN" sz="1800" dirty="0">
                <a:latin typeface="Times New Roman" panose="02020603050405020304" pitchFamily="18" charset="0"/>
                <a:cs typeface="Times New Roman" panose="02020603050405020304" pitchFamily="18" charset="0"/>
              </a:rPr>
              <a:t>, A., &amp; Noh, J. (2024). Stylized Face Sketch Extraction via Generative Prior with Limited Data. </a:t>
            </a:r>
            <a:r>
              <a:rPr lang="en-IN" sz="1800" i="1" dirty="0">
                <a:latin typeface="Times New Roman" panose="02020603050405020304" pitchFamily="18" charset="0"/>
                <a:cs typeface="Times New Roman" panose="02020603050405020304" pitchFamily="18" charset="0"/>
              </a:rPr>
              <a:t>Computer Graphics Forum</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43</a:t>
            </a:r>
            <a:r>
              <a:rPr lang="en-IN" sz="1800" dirty="0">
                <a:latin typeface="Times New Roman" panose="02020603050405020304" pitchFamily="18"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hlinkClick r:id="rId5"/>
              </a:rPr>
              <a:t>https://doi.org/10.1111/cgf.15045</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[20] Zhang, C., Yu, Z., &amp; Zhao, S. (2021). Path-space differentiable rendering of participating media. </a:t>
            </a:r>
            <a:r>
              <a:rPr lang="en-IN" sz="1800" i="1" dirty="0">
                <a:latin typeface="Times New Roman" panose="02020603050405020304" pitchFamily="18" charset="0"/>
                <a:cs typeface="Times New Roman" panose="02020603050405020304" pitchFamily="18" charset="0"/>
              </a:rPr>
              <a:t>ACM Transactions on Graphics</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40</a:t>
            </a:r>
            <a:r>
              <a:rPr lang="en-IN" sz="1800" dirty="0">
                <a:latin typeface="Times New Roman" panose="02020603050405020304" pitchFamily="18" charset="0"/>
                <a:cs typeface="Times New Roman" panose="02020603050405020304" pitchFamily="18" charset="0"/>
              </a:rPr>
              <a:t>(4), 1–15. </a:t>
            </a:r>
            <a:r>
              <a:rPr lang="en-IN" sz="1800" dirty="0">
                <a:latin typeface="Times New Roman" panose="02020603050405020304" pitchFamily="18" charset="0"/>
                <a:cs typeface="Times New Roman" panose="02020603050405020304" pitchFamily="18" charset="0"/>
                <a:hlinkClick r:id="rId6"/>
              </a:rPr>
              <a:t>https://doi.org/10.1145/3450626.3459782</a:t>
            </a: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491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A04D-6B81-5571-6B01-4D3BB7726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CFCA4-D9C6-108F-F142-39C214AE632E}"/>
              </a:ext>
            </a:extLst>
          </p:cNvPr>
          <p:cNvSpPr>
            <a:spLocks noGrp="1"/>
          </p:cNvSpPr>
          <p:nvPr>
            <p:ph type="title"/>
          </p:nvPr>
        </p:nvSpPr>
        <p:spPr>
          <a:xfrm>
            <a:off x="448056" y="-152400"/>
            <a:ext cx="8229600" cy="1143000"/>
          </a:xfrm>
        </p:spPr>
        <p:txBody>
          <a:bodyPr>
            <a:normAutofit/>
          </a:bodyPr>
          <a:lstStyle/>
          <a:p>
            <a:r>
              <a:rPr lang="en-US" dirty="0">
                <a:latin typeface="Times New Roman" pitchFamily="18" charset="0"/>
                <a:cs typeface="Times New Roman" pitchFamily="18" charset="0"/>
              </a:rPr>
              <a:t>REFERENCES</a:t>
            </a:r>
          </a:p>
        </p:txBody>
      </p:sp>
      <p:sp>
        <p:nvSpPr>
          <p:cNvPr id="4" name="Footer Placeholder 3">
            <a:extLst>
              <a:ext uri="{FF2B5EF4-FFF2-40B4-BE49-F238E27FC236}">
                <a16:creationId xmlns:a16="http://schemas.microsoft.com/office/drawing/2014/main" id="{C3C63EC8-22DB-2CE9-C68C-C0B96CE9BD84}"/>
              </a:ext>
            </a:extLst>
          </p:cNvPr>
          <p:cNvSpPr>
            <a:spLocks noGrp="1"/>
          </p:cNvSpPr>
          <p:nvPr>
            <p:ph type="ftr" sz="quarter" idx="11"/>
          </p:nvPr>
        </p:nvSpPr>
        <p:spPr>
          <a:xfrm>
            <a:off x="457200" y="6527927"/>
            <a:ext cx="8229600" cy="425450"/>
          </a:xfrm>
        </p:spPr>
        <p:txBody>
          <a:bodyPr/>
          <a:lstStyle/>
          <a:p>
            <a:r>
              <a:rPr lang="en-US" dirty="0"/>
              <a:t>DEPARTMENT OF COMPUTER SCIENCE AND ENGINEERING</a:t>
            </a:r>
          </a:p>
        </p:txBody>
      </p:sp>
      <p:sp>
        <p:nvSpPr>
          <p:cNvPr id="5" name="Content Placeholder 4">
            <a:extLst>
              <a:ext uri="{FF2B5EF4-FFF2-40B4-BE49-F238E27FC236}">
                <a16:creationId xmlns:a16="http://schemas.microsoft.com/office/drawing/2014/main" id="{076C02CB-5A1A-2E81-3B5C-CCC188BBB38D}"/>
              </a:ext>
            </a:extLst>
          </p:cNvPr>
          <p:cNvSpPr>
            <a:spLocks noGrp="1"/>
          </p:cNvSpPr>
          <p:nvPr>
            <p:ph idx="1"/>
          </p:nvPr>
        </p:nvSpPr>
        <p:spPr>
          <a:xfrm>
            <a:off x="181356" y="877824"/>
            <a:ext cx="8763000" cy="5768975"/>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[21] Wu, H., Li, J., Zhao, K., Zhang, S., Shi, Y., &amp; Lin, L. (2025, June 18). </a:t>
            </a:r>
            <a:r>
              <a:rPr lang="en-IN" sz="1800" i="1" dirty="0">
                <a:latin typeface="Times New Roman" panose="02020603050405020304" pitchFamily="18" charset="0"/>
                <a:cs typeface="Times New Roman" panose="02020603050405020304" pitchFamily="18" charset="0"/>
              </a:rPr>
              <a:t>One-shot face sketch synthesis in the wild via generative diffusion prior and instruction tuning</a:t>
            </a:r>
            <a:r>
              <a:rPr lang="en-IN" sz="1800" dirty="0">
                <a:latin typeface="Times New Roman" panose="02020603050405020304" pitchFamily="18" charset="0"/>
                <a:cs typeface="Times New Roman" panose="02020603050405020304" pitchFamily="18" charset="0"/>
              </a:rPr>
              <a:t>. arXiv.org. </a:t>
            </a:r>
            <a:r>
              <a:rPr lang="en-IN" sz="1800" dirty="0">
                <a:latin typeface="Times New Roman" panose="02020603050405020304" pitchFamily="18" charset="0"/>
                <a:cs typeface="Times New Roman" panose="02020603050405020304" pitchFamily="18" charset="0"/>
                <a:hlinkClick r:id="rId2"/>
              </a:rPr>
              <a:t>https://arxiv.org/abs/2506.15312</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[22] Li, T., Tu, S., &amp; Xu, L. (2025, November 6). </a:t>
            </a:r>
            <a:r>
              <a:rPr lang="en-IN" sz="1800" i="1" dirty="0">
                <a:latin typeface="Times New Roman" panose="02020603050405020304" pitchFamily="18" charset="0"/>
                <a:cs typeface="Times New Roman" panose="02020603050405020304" pitchFamily="18" charset="0"/>
              </a:rPr>
              <a:t>Text to Sketch Generation with Multi-Styles</a:t>
            </a:r>
            <a:r>
              <a:rPr lang="en-IN" sz="1800" dirty="0">
                <a:latin typeface="Times New Roman" panose="02020603050405020304" pitchFamily="18" charset="0"/>
                <a:cs typeface="Times New Roman" panose="02020603050405020304" pitchFamily="18" charset="0"/>
              </a:rPr>
              <a:t>. arXiv.org. </a:t>
            </a:r>
            <a:r>
              <a:rPr lang="en-IN" sz="1800" dirty="0">
                <a:latin typeface="Times New Roman" panose="02020603050405020304" pitchFamily="18" charset="0"/>
                <a:cs typeface="Times New Roman" panose="02020603050405020304" pitchFamily="18" charset="0"/>
                <a:hlinkClick r:id="rId3"/>
              </a:rPr>
              <a:t>https://arxiv.org/abs/2511.04123</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[23] Roy, P., Bhattacharya, S., Ghosh, S., Pal, U., &amp; Blumenstein, M. (2025, February 19). </a:t>
            </a:r>
            <a:r>
              <a:rPr lang="en-IN" sz="1800" i="1" dirty="0">
                <a:latin typeface="Times New Roman" panose="02020603050405020304" pitchFamily="18" charset="0"/>
                <a:cs typeface="Times New Roman" panose="02020603050405020304" pitchFamily="18" charset="0"/>
              </a:rPr>
              <a:t>d-Sketch: Improving Visual Fidelity of Sketch-to-Image Translation with Pretrained Latent Diffusion Models without Retraining</a:t>
            </a:r>
            <a:r>
              <a:rPr lang="en-IN" sz="1800" dirty="0">
                <a:latin typeface="Times New Roman" panose="02020603050405020304" pitchFamily="18" charset="0"/>
                <a:cs typeface="Times New Roman" panose="02020603050405020304" pitchFamily="18" charset="0"/>
              </a:rPr>
              <a:t>. arXiv.org. </a:t>
            </a:r>
            <a:r>
              <a:rPr lang="en-IN" sz="1800" dirty="0">
                <a:latin typeface="Times New Roman" panose="02020603050405020304" pitchFamily="18" charset="0"/>
                <a:cs typeface="Times New Roman" panose="02020603050405020304" pitchFamily="18" charset="0"/>
                <a:hlinkClick r:id="rId4"/>
              </a:rPr>
              <a:t>https://arxiv.org/abs/2502.14007</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[24] Wu, H., Li, J., Zhao, K., Zhang, S., Shi, Y., &amp; Lin, L. (2025b). One-shot face sketch synthesis in the wild via generative diffusion prior and instruction tuning.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(Cornell University)</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5"/>
              </a:rPr>
              <a:t>https://doi.org/10.48550/arxiv.2506.15312</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[25] Vandersanden, J., Holl, S., Huang, X., &amp; Singh, G. (2024, October 2). </a:t>
            </a:r>
            <a:r>
              <a:rPr lang="en-IN" sz="1800" i="1" dirty="0">
                <a:latin typeface="Times New Roman" panose="02020603050405020304" pitchFamily="18" charset="0"/>
                <a:cs typeface="Times New Roman" panose="02020603050405020304" pitchFamily="18" charset="0"/>
              </a:rPr>
              <a:t>Edge-preserving noise for diffusion models</a:t>
            </a:r>
            <a:r>
              <a:rPr lang="en-IN" sz="1800" dirty="0">
                <a:latin typeface="Times New Roman" panose="02020603050405020304" pitchFamily="18" charset="0"/>
                <a:cs typeface="Times New Roman" panose="02020603050405020304" pitchFamily="18" charset="0"/>
              </a:rPr>
              <a:t>. arXiv.org. https://arxiv.org/abs/2410.01540</a:t>
            </a:r>
          </a:p>
          <a:p>
            <a:pPr marL="0" indent="0" algn="jus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191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5622</Words>
  <Application>Microsoft Office PowerPoint</Application>
  <PresentationFormat>On-screen Show (4:3)</PresentationFormat>
  <Paragraphs>585</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Arial</vt:lpstr>
      <vt:lpstr>Calibri</vt:lpstr>
      <vt:lpstr>Times New Roman</vt:lpstr>
      <vt:lpstr>Times New Roman MT</vt:lpstr>
      <vt:lpstr>Wingdings</vt:lpstr>
      <vt:lpstr>Office Theme</vt:lpstr>
      <vt:lpstr> SRM INSTITUTE OF SCIENCE AND TECHNOLOGY,  Ramapuram, Chennai-89 SCHOOL OF COMPUTER SCIENCE AND ENGINEERING DEPARTMENT OF COMPUTER SCIENCE AND ENGINEERING 21CSP302L - PROJECT  </vt:lpstr>
      <vt:lpstr>AGENDA</vt:lpstr>
      <vt:lpstr>ABSTRACT</vt:lpstr>
      <vt:lpstr>INTRODUCTION</vt:lpstr>
      <vt:lpstr>PROBLEM STATEMENT</vt:lpstr>
      <vt:lpstr>OBJECTIVES</vt:lpstr>
      <vt:lpstr>SCOPE</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ARCHITECTURE DIAGRAM</vt:lpstr>
      <vt:lpstr>FLOW DIAGRAM</vt:lpstr>
      <vt:lpstr>LIST OF MODULES</vt:lpstr>
      <vt:lpstr>LIST OF MODULES</vt:lpstr>
      <vt:lpstr>LIST OF MODULES</vt:lpstr>
      <vt:lpstr>LIST OF MODULES</vt:lpstr>
      <vt:lpstr>REFERENCES</vt:lpstr>
      <vt:lpstr>REFERENCES</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Sameer Raja</cp:lastModifiedBy>
  <cp:revision>19</cp:revision>
  <dcterms:created xsi:type="dcterms:W3CDTF">2023-07-26T03:49:14Z</dcterms:created>
  <dcterms:modified xsi:type="dcterms:W3CDTF">2026-02-17T14:22:29Z</dcterms:modified>
</cp:coreProperties>
</file>